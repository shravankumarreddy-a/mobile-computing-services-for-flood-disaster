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8" r:id="rId1"/>
  </p:sldMasterIdLst>
  <p:notesMasterIdLst>
    <p:notesMasterId r:id="rId38"/>
  </p:notesMasterIdLst>
  <p:sldIdLst>
    <p:sldId id="256" r:id="rId2"/>
    <p:sldId id="301" r:id="rId3"/>
    <p:sldId id="258" r:id="rId4"/>
    <p:sldId id="259" r:id="rId5"/>
    <p:sldId id="260" r:id="rId6"/>
    <p:sldId id="261" r:id="rId7"/>
    <p:sldId id="262" r:id="rId8"/>
    <p:sldId id="263" r:id="rId9"/>
    <p:sldId id="264" r:id="rId10"/>
    <p:sldId id="265" r:id="rId11"/>
    <p:sldId id="266" r:id="rId12"/>
    <p:sldId id="267" r:id="rId13"/>
    <p:sldId id="268" r:id="rId14"/>
    <p:sldId id="303" r:id="rId15"/>
    <p:sldId id="270" r:id="rId16"/>
    <p:sldId id="271" r:id="rId17"/>
    <p:sldId id="274" r:id="rId18"/>
    <p:sldId id="307" r:id="rId19"/>
    <p:sldId id="308" r:id="rId20"/>
    <p:sldId id="309" r:id="rId21"/>
    <p:sldId id="310" r:id="rId22"/>
    <p:sldId id="311" r:id="rId23"/>
    <p:sldId id="312" r:id="rId24"/>
    <p:sldId id="313" r:id="rId25"/>
    <p:sldId id="314" r:id="rId26"/>
    <p:sldId id="317" r:id="rId27"/>
    <p:sldId id="316" r:id="rId28"/>
    <p:sldId id="319" r:id="rId29"/>
    <p:sldId id="320" r:id="rId30"/>
    <p:sldId id="321" r:id="rId31"/>
    <p:sldId id="322" r:id="rId32"/>
    <p:sldId id="323" r:id="rId33"/>
    <p:sldId id="338" r:id="rId34"/>
    <p:sldId id="336" r:id="rId35"/>
    <p:sldId id="347" r:id="rId36"/>
    <p:sldId id="299"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hakur Roshan Singh" initials="TRS" lastIdx="1" clrIdx="0">
    <p:extLst>
      <p:ext uri="{19B8F6BF-5375-455C-9EA6-DF929625EA0E}">
        <p15:presenceInfo xmlns:p15="http://schemas.microsoft.com/office/powerpoint/2012/main" userId="S-1-5-21-3460830895-525798342-3878488177-192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44" autoAdjust="0"/>
    <p:restoredTop sz="94291" autoAdjust="0"/>
  </p:normalViewPr>
  <p:slideViewPr>
    <p:cSldViewPr snapToGrid="0">
      <p:cViewPr varScale="1">
        <p:scale>
          <a:sx n="72" d="100"/>
          <a:sy n="72" d="100"/>
        </p:scale>
        <p:origin x="59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ommentAuthors" Target="commentAuthor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8B8C28-737E-47A7-A62D-91175A6A0F52}" type="datetimeFigureOut">
              <a:rPr lang="en-IN" smtClean="0"/>
              <a:t>06-03-2025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097776-9ACE-4CE6-9B49-06E8290DF3D7}" type="slidenum">
              <a:rPr lang="en-IN" smtClean="0"/>
              <a:t>‹#›</a:t>
            </a:fld>
            <a:endParaRPr lang="en-IN"/>
          </a:p>
        </p:txBody>
      </p:sp>
    </p:spTree>
    <p:extLst>
      <p:ext uri="{BB962C8B-B14F-4D97-AF65-F5344CB8AC3E}">
        <p14:creationId xmlns:p14="http://schemas.microsoft.com/office/powerpoint/2010/main" val="34357471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4AAD347D-5ACD-4C99-B74B-A9C85AD731AF}" type="datetimeFigureOut">
              <a:rPr lang="en-US" smtClean="0"/>
              <a:t>3/6/2025</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02111984F565}" type="slidenum">
              <a:rPr lang="en-US" smtClean="0"/>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36444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3/6/2025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0978839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3/6/2025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608441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smtClean="0"/>
              <a:t>3/6/2025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1278784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smtClean="0"/>
              <a:t>3/6/2025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717492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3/6/2025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808961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3/6/2025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7664646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3/6/2025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142005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3/6/2025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1406496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AAD347D-5ACD-4C99-B74B-A9C85AD731AF}" type="datetimeFigureOut">
              <a:rPr lang="en-US" smtClean="0"/>
              <a:t>3/6/2025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70655408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3/6/2025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714097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3/6/2025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877301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3/6/2025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7976598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AD347D-5ACD-4C99-B74B-A9C85AD731AF}" type="datetimeFigureOut">
              <a:rPr lang="en-US" smtClean="0"/>
              <a:t>3/6/2025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07390606"/>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AD347D-5ACD-4C99-B74B-A9C85AD731AF}" type="datetimeFigureOut">
              <a:rPr lang="en-US" smtClean="0"/>
              <a:t>3/6/2025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00317468"/>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3/6/2025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729227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3/6/2025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359063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AAD347D-5ACD-4C99-B74B-A9C85AD731AF}" type="datetimeFigureOut">
              <a:rPr lang="en-US" smtClean="0"/>
              <a:t>3/6/2025</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223470621"/>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703" r:id="rId15"/>
    <p:sldLayoutId id="2147483704" r:id="rId16"/>
    <p:sldLayoutId id="2147483705" r:id="rId17"/>
  </p:sldLayoutIdLst>
  <p:hf sldNum="0" hdr="0" ftr="0" dt="0"/>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913554" y="2428392"/>
            <a:ext cx="8364892" cy="1665521"/>
          </a:xfrm>
          <a:prstGeom prst="rect">
            <a:avLst/>
          </a:prstGeom>
        </p:spPr>
        <p:txBody>
          <a:bodyPr wrap="square">
            <a:spAutoFit/>
          </a:bodyPr>
          <a:lstStyle/>
          <a:p>
            <a:pPr algn="ctr">
              <a:lnSpc>
                <a:spcPct val="150000"/>
              </a:lnSpc>
              <a:spcAft>
                <a:spcPts val="800"/>
              </a:spcAft>
            </a:pPr>
            <a:r>
              <a:rPr lang="en-US" sz="36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MOBILE COMPUTING SERVICES TO SUPPORT FLOOD DISASTER APP</a:t>
            </a:r>
            <a:endParaRPr lang="en-IN"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147318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58342" y="592574"/>
            <a:ext cx="928459"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INDEX</a:t>
            </a:r>
            <a:endParaRPr lang="en-US" dirty="0"/>
          </a:p>
        </p:txBody>
      </p:sp>
      <p:sp>
        <p:nvSpPr>
          <p:cNvPr id="3" name="Rectangle 2"/>
          <p:cNvSpPr/>
          <p:nvPr/>
        </p:nvSpPr>
        <p:spPr>
          <a:xfrm>
            <a:off x="1092250" y="1110666"/>
            <a:ext cx="6096000" cy="4801314"/>
          </a:xfrm>
          <a:prstGeom prst="rect">
            <a:avLst/>
          </a:prstGeom>
        </p:spPr>
        <p:txBody>
          <a:bodyPr>
            <a:spAutoFit/>
          </a:bodyPr>
          <a:lstStyle/>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Abstract</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Objective of project</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Problem Statement</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Scope And Motivation</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Introduction</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Literature survey</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Existing Method</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Disadvantages</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Proposed method</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Advantages</a:t>
            </a:r>
          </a:p>
        </p:txBody>
      </p:sp>
      <p:sp>
        <p:nvSpPr>
          <p:cNvPr id="4" name="Rectangle 3"/>
          <p:cNvSpPr/>
          <p:nvPr/>
        </p:nvSpPr>
        <p:spPr>
          <a:xfrm>
            <a:off x="6096000" y="1212493"/>
            <a:ext cx="6096000" cy="4266809"/>
          </a:xfrm>
          <a:prstGeom prst="rect">
            <a:avLst/>
          </a:prstGeom>
        </p:spPr>
        <p:txBody>
          <a:bodyPr>
            <a:spAutoFit/>
          </a:bodyPr>
          <a:lstStyle/>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Project Flow</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Hardware and Software Requirements</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Architecture</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Modules</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UML Diagram</a:t>
            </a:r>
          </a:p>
          <a:p>
            <a:pPr lvl="2">
              <a:lnSpc>
                <a:spcPct val="170000"/>
              </a:lnSpc>
              <a:buFont typeface="Wingdings" panose="05000000000000000000" pitchFamily="2" charset="2"/>
              <a:buChar char="v"/>
            </a:pPr>
            <a:r>
              <a:rPr lang="en-US">
                <a:latin typeface="Times New Roman" panose="02020603050405020304" pitchFamily="18" charset="0"/>
                <a:cs typeface="Times New Roman" panose="02020603050405020304" pitchFamily="18" charset="0"/>
              </a:rPr>
              <a:t>Output Screens</a:t>
            </a:r>
            <a:endParaRPr lang="en-US" dirty="0">
              <a:latin typeface="Times New Roman" panose="02020603050405020304" pitchFamily="18" charset="0"/>
              <a:cs typeface="Times New Roman" panose="02020603050405020304" pitchFamily="18" charset="0"/>
            </a:endParaRP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Conclusion</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Future Work</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29967286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517044" y="535756"/>
            <a:ext cx="8596668" cy="755560"/>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ABSTRACT</a:t>
            </a:r>
          </a:p>
        </p:txBody>
      </p:sp>
      <p:sp>
        <p:nvSpPr>
          <p:cNvPr id="3" name="Rectangle 2"/>
          <p:cNvSpPr/>
          <p:nvPr/>
        </p:nvSpPr>
        <p:spPr>
          <a:xfrm>
            <a:off x="922350" y="1152076"/>
            <a:ext cx="10347300" cy="5044138"/>
          </a:xfrm>
          <a:prstGeom prst="rect">
            <a:avLst/>
          </a:prstGeom>
        </p:spPr>
        <p:txBody>
          <a:bodyPr wrap="square">
            <a:spAutoFit/>
          </a:bodyPr>
          <a:lstStyle/>
          <a:p>
            <a:pPr algn="just">
              <a:lnSpc>
                <a:spcPct val="150000"/>
              </a:lnSpc>
              <a:spcAft>
                <a:spcPts val="800"/>
              </a:spcAft>
            </a:pPr>
            <a:r>
              <a:rPr lang="en-US" sz="1600" dirty="0">
                <a:latin typeface="Times New Roman" panose="02020603050405020304" pitchFamily="18" charset="0"/>
                <a:ea typeface="Calibri" panose="020F0502020204030204" pitchFamily="34" charset="0"/>
                <a:cs typeface="Times New Roman" panose="02020603050405020304" pitchFamily="18" charset="0"/>
              </a:rPr>
              <a:t>The project aims to provide a comprehensive mobile application that streamlines disaster response and relief efforts during flood emergencies. This application facilitates seamless interaction among donors, supporters, users, and administrators to enhance coordination and aid distribution. Donors can register, log in, view requests for assistance, and accept these requests, ensuring timely and efficient support. Supporters are also enabled to register, log in, view, and accept requests, adding an additional layer of support to the relief efforts. Users can register, log in, add requests for aid, and track their request history, allowing them to receive the necessary help quickly and transparently. The Admin role is crucial in verifying the profiles of supporters and requests before making them visible to donors, ensuring the authenticity and legitimacy of all interactions within the application. This mobile application aims to leverage technology to facilitate real-time communication, improve the efficiency of disaster response, and ensure that aid reaches those in need promptly. By integrating registration, authentication, and request management features, the application provides a robust platform for managing flood disaster relief efforts, ultimately helping to save lives and reduce the impact of such emergencies on affected communities</a:t>
            </a:r>
            <a:r>
              <a:rPr lang="en-IN" dirty="0">
                <a:latin typeface="Times New Roman" panose="02020603050405020304" pitchFamily="18" charset="0"/>
                <a:ea typeface="Calibri" panose="020F0502020204030204" pitchFamily="34"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b="1" dirty="0">
                <a:latin typeface="Times New Roman" panose="02020603050405020304" pitchFamily="18" charset="0"/>
                <a:ea typeface="Calibri" panose="020F0502020204030204" pitchFamily="34" charset="0"/>
                <a:cs typeface="Times New Roman" panose="02020603050405020304" pitchFamily="18" charset="0"/>
              </a:rPr>
              <a:t>Keywords</a:t>
            </a:r>
            <a:r>
              <a:rPr lang="en-IN" dirty="0">
                <a:latin typeface="Times New Roman" panose="02020603050405020304" pitchFamily="18" charset="0"/>
                <a:ea typeface="Calibri" panose="020F0502020204030204" pitchFamily="34" charset="0"/>
                <a:cs typeface="Times New Roman" panose="02020603050405020304" pitchFamily="18" charset="0"/>
              </a:rPr>
              <a:t>: </a:t>
            </a:r>
            <a:r>
              <a:rPr lang="en-US" dirty="0">
                <a:latin typeface="Times New Roman" panose="02020603050405020304" pitchFamily="18" charset="0"/>
                <a:ea typeface="Calibri" panose="020F0502020204030204" pitchFamily="34" charset="0"/>
                <a:cs typeface="Times New Roman" panose="02020603050405020304" pitchFamily="18" charset="0"/>
              </a:rPr>
              <a:t>: Healthcare, Trainers, Doctors, Users, Interaction, Wellness</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605521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353590" y="752642"/>
            <a:ext cx="8596668" cy="79849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OBJECTIVE OF PROJECT</a:t>
            </a:r>
          </a:p>
        </p:txBody>
      </p:sp>
      <p:sp>
        <p:nvSpPr>
          <p:cNvPr id="4" name="TextBox 3">
            <a:extLst>
              <a:ext uri="{FF2B5EF4-FFF2-40B4-BE49-F238E27FC236}">
                <a16:creationId xmlns:a16="http://schemas.microsoft.com/office/drawing/2014/main" id="{83D8B131-C32A-0235-00ED-2F6C0CB85975}"/>
              </a:ext>
            </a:extLst>
          </p:cNvPr>
          <p:cNvSpPr txBox="1"/>
          <p:nvPr/>
        </p:nvSpPr>
        <p:spPr>
          <a:xfrm>
            <a:off x="1353590" y="2721565"/>
            <a:ext cx="9799092" cy="2956387"/>
          </a:xfrm>
          <a:prstGeom prst="rect">
            <a:avLst/>
          </a:prstGeom>
          <a:noFill/>
        </p:spPr>
        <p:txBody>
          <a:bodyPr wrap="square">
            <a:spAutoFit/>
          </a:bodyPr>
          <a:lstStyle/>
          <a:p>
            <a:pPr algn="just">
              <a:lnSpc>
                <a:spcPct val="150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The objective of this project is to develop a mobile application that enhances flood disaster relief efforts by providing a centralized platform for coordination and communication among donors, supporters, users, and administrators. The application aims to streamline the registration, login, and request management processes, ensuring timely and verified assistance. It will facilitate real-time updates and efficient resource allocation, reducing delays and improving the overall effectiveness of disaster response. By leveraging mobile computing services, the project seeks to minimize the impact of floods on affected communities and ensure that aid reaches those in need promptly</a:t>
            </a:r>
            <a:r>
              <a:rPr lang="en-IN" dirty="0">
                <a:latin typeface="Times New Roman" panose="02020603050405020304" pitchFamily="18" charset="0"/>
                <a:ea typeface="Calibri" panose="020F0502020204030204" pitchFamily="34"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318951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606587" y="83202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PROBLEM STATEMENT</a:t>
            </a:r>
          </a:p>
        </p:txBody>
      </p:sp>
      <p:sp>
        <p:nvSpPr>
          <p:cNvPr id="5" name="TextBox 4">
            <a:extLst>
              <a:ext uri="{FF2B5EF4-FFF2-40B4-BE49-F238E27FC236}">
                <a16:creationId xmlns:a16="http://schemas.microsoft.com/office/drawing/2014/main" id="{95B58230-1704-28A2-A524-3557D8B7BBEB}"/>
              </a:ext>
            </a:extLst>
          </p:cNvPr>
          <p:cNvSpPr txBox="1"/>
          <p:nvPr/>
        </p:nvSpPr>
        <p:spPr>
          <a:xfrm>
            <a:off x="1351128" y="2919722"/>
            <a:ext cx="9735971" cy="2125390"/>
          </a:xfrm>
          <a:prstGeom prst="rect">
            <a:avLst/>
          </a:prstGeom>
          <a:noFill/>
        </p:spPr>
        <p:txBody>
          <a:bodyPr wrap="square">
            <a:spAutoFit/>
          </a:bodyPr>
          <a:lstStyle/>
          <a:p>
            <a:pPr algn="just">
              <a:lnSpc>
                <a:spcPct val="150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The current flood disaster relief system suffers from significant inefficiencies due to manual coordination, fragmented communication, and lack of real-time updates. These issues result in delayed aid delivery, difficulty in verifying the authenticity of requests and supporters, and ineffective resource allocation. There is an urgent need for a centralized, streamlined platform to enhance the coordination, transparency, and efficiency of disaster response efforts</a:t>
            </a:r>
            <a:r>
              <a:rPr lang="en-IN" dirty="0">
                <a:latin typeface="Times New Roman" panose="02020603050405020304" pitchFamily="18" charset="0"/>
                <a:ea typeface="Calibri" panose="020F0502020204030204" pitchFamily="34"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457841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409782" y="826946"/>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SCOPE</a:t>
            </a:r>
          </a:p>
        </p:txBody>
      </p:sp>
      <p:sp>
        <p:nvSpPr>
          <p:cNvPr id="4" name="Rectangle 3"/>
          <p:cNvSpPr/>
          <p:nvPr/>
        </p:nvSpPr>
        <p:spPr>
          <a:xfrm>
            <a:off x="1107583" y="1928590"/>
            <a:ext cx="9620518" cy="987706"/>
          </a:xfrm>
          <a:prstGeom prst="rect">
            <a:avLst/>
          </a:prstGeom>
        </p:spPr>
        <p:txBody>
          <a:bodyPr wrap="square">
            <a:spAutoFit/>
          </a:bodyPr>
          <a:lstStyle/>
          <a:p>
            <a:pPr algn="just">
              <a:lnSpc>
                <a:spcPct val="150000"/>
              </a:lnSpc>
              <a:spcAft>
                <a:spcPts val="800"/>
              </a:spcAft>
            </a:pPr>
            <a:endParaRPr lang="en-IN" sz="2000" dirty="0">
              <a:effectLst/>
              <a:latin typeface="Times New Roman" panose="02020603050405020304" pitchFamily="18" charset="0"/>
              <a:ea typeface="Times New Roman" panose="02020603050405020304" pitchFamily="18" charset="0"/>
            </a:endParaRPr>
          </a:p>
          <a:p>
            <a:pPr algn="just">
              <a:lnSpc>
                <a:spcPct val="150000"/>
              </a:lnSpc>
              <a:spcAft>
                <a:spcPts val="800"/>
              </a:spcAft>
            </a:pP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7D296B6E-1EE3-5398-9F75-7539EFA417D0}"/>
              </a:ext>
            </a:extLst>
          </p:cNvPr>
          <p:cNvSpPr txBox="1"/>
          <p:nvPr/>
        </p:nvSpPr>
        <p:spPr>
          <a:xfrm>
            <a:off x="1123666" y="2858572"/>
            <a:ext cx="9960751" cy="2956387"/>
          </a:xfrm>
          <a:prstGeom prst="rect">
            <a:avLst/>
          </a:prstGeom>
          <a:noFill/>
        </p:spPr>
        <p:txBody>
          <a:bodyPr wrap="square">
            <a:spAutoFit/>
          </a:bodyPr>
          <a:lstStyle/>
          <a:p>
            <a:pPr algn="just">
              <a:lnSpc>
                <a:spcPct val="150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The scope of this project encompasses the development and deployment of a mobile application designed to support flood disaster relief efforts. The application will include features for donor, supporter, user, and admin roles, each with specific functionalities such as registration, login, request management, and profile verification. The system will provide real-time updates, streamline communication, and enhance coordination among all parties involved. This application aims to improve the efficiency, transparency, and effectiveness of disaster response, ensuring timely and accurate delivery of aid to flood-affected individuals and communities</a:t>
            </a:r>
            <a:r>
              <a:rPr lang="en-IN" dirty="0">
                <a:latin typeface="Times New Roman" panose="02020603050405020304" pitchFamily="18" charset="0"/>
                <a:ea typeface="Calibri" panose="020F0502020204030204" pitchFamily="34"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570071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647776" y="81442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MOTIVATION</a:t>
            </a:r>
          </a:p>
        </p:txBody>
      </p:sp>
      <p:sp>
        <p:nvSpPr>
          <p:cNvPr id="4" name="TextBox 3">
            <a:extLst>
              <a:ext uri="{FF2B5EF4-FFF2-40B4-BE49-F238E27FC236}">
                <a16:creationId xmlns:a16="http://schemas.microsoft.com/office/drawing/2014/main" id="{118458AA-7756-2A16-9C04-13AEA1812C6D}"/>
              </a:ext>
            </a:extLst>
          </p:cNvPr>
          <p:cNvSpPr txBox="1"/>
          <p:nvPr/>
        </p:nvSpPr>
        <p:spPr>
          <a:xfrm>
            <a:off x="1401548" y="2770293"/>
            <a:ext cx="9816120" cy="2125390"/>
          </a:xfrm>
          <a:prstGeom prst="rect">
            <a:avLst/>
          </a:prstGeom>
          <a:noFill/>
        </p:spPr>
        <p:txBody>
          <a:bodyPr wrap="square">
            <a:spAutoFit/>
          </a:bodyPr>
          <a:lstStyle/>
          <a:p>
            <a:pPr algn="just">
              <a:lnSpc>
                <a:spcPct val="150000"/>
              </a:lnSpc>
              <a:spcAft>
                <a:spcPts val="800"/>
              </a:spcAft>
            </a:pP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 motivation behind this project lies in the need to provide a more efficient and coordinated approach to disaster relief during floods. Floods often result in widespread devastation, and timely aid is crucial to minimizing their impact on affected communities. By leveraging technology, the application enables faster, more transparent interactions between all parties involved, ensuring that resources are allocated effectively and that help reaches those who need it most in a timely manner</a:t>
            </a: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279796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672490" y="591998"/>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INTRODUCTION</a:t>
            </a:r>
          </a:p>
        </p:txBody>
      </p:sp>
      <p:sp>
        <p:nvSpPr>
          <p:cNvPr id="5" name="TextBox 4">
            <a:extLst>
              <a:ext uri="{FF2B5EF4-FFF2-40B4-BE49-F238E27FC236}">
                <a16:creationId xmlns:a16="http://schemas.microsoft.com/office/drawing/2014/main" id="{9C70EFC5-668D-84C6-15B6-208E5BA4DB83}"/>
              </a:ext>
            </a:extLst>
          </p:cNvPr>
          <p:cNvSpPr txBox="1"/>
          <p:nvPr/>
        </p:nvSpPr>
        <p:spPr>
          <a:xfrm>
            <a:off x="879061" y="2715571"/>
            <a:ext cx="10705910" cy="2125390"/>
          </a:xfrm>
          <a:prstGeom prst="rect">
            <a:avLst/>
          </a:prstGeom>
          <a:noFill/>
        </p:spPr>
        <p:txBody>
          <a:bodyPr wrap="square">
            <a:spAutoFit/>
          </a:bodyPr>
          <a:lstStyle/>
          <a:p>
            <a:pPr>
              <a:lnSpc>
                <a:spcPct val="150000"/>
              </a:lnSpc>
              <a:spcAft>
                <a:spcPts val="800"/>
              </a:spcAft>
            </a:pP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This project presents a mobile application designed to enhance disaster response and relief efforts during flood emergencies. The app facilitates seamless communication and coordination among donors, supporters, users, and administrators, ensuring that aid reaches affected communities swiftly. By integrating features such as registration, authentication, and request management, the application improves the efficiency and transparency of the disaster relief process, making it easier to manage resources and support those in need</a:t>
            </a: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112790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441830" y="255371"/>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LITERATURE SURVEY</a:t>
            </a:r>
          </a:p>
        </p:txBody>
      </p:sp>
      <p:graphicFrame>
        <p:nvGraphicFramePr>
          <p:cNvPr id="6" name="Table 5">
            <a:extLst>
              <a:ext uri="{FF2B5EF4-FFF2-40B4-BE49-F238E27FC236}">
                <a16:creationId xmlns:a16="http://schemas.microsoft.com/office/drawing/2014/main" id="{AEBE2629-05EF-4058-A53C-96E7F2D18D30}"/>
              </a:ext>
            </a:extLst>
          </p:cNvPr>
          <p:cNvGraphicFramePr>
            <a:graphicFrameLocks noGrp="1"/>
          </p:cNvGraphicFramePr>
          <p:nvPr>
            <p:extLst>
              <p:ext uri="{D42A27DB-BD31-4B8C-83A1-F6EECF244321}">
                <p14:modId xmlns:p14="http://schemas.microsoft.com/office/powerpoint/2010/main" val="2573480427"/>
              </p:ext>
            </p:extLst>
          </p:nvPr>
        </p:nvGraphicFramePr>
        <p:xfrm>
          <a:off x="834887" y="1298713"/>
          <a:ext cx="10522228" cy="4596025"/>
        </p:xfrm>
        <a:graphic>
          <a:graphicData uri="http://schemas.openxmlformats.org/drawingml/2006/table">
            <a:tbl>
              <a:tblPr>
                <a:tableStyleId>{5940675A-B579-460E-94D1-54222C63F5DA}</a:tableStyleId>
              </a:tblPr>
              <a:tblGrid>
                <a:gridCol w="1881809">
                  <a:extLst>
                    <a:ext uri="{9D8B030D-6E8A-4147-A177-3AD203B41FA5}">
                      <a16:colId xmlns:a16="http://schemas.microsoft.com/office/drawing/2014/main" val="3782771313"/>
                    </a:ext>
                  </a:extLst>
                </a:gridCol>
                <a:gridCol w="2385391">
                  <a:extLst>
                    <a:ext uri="{9D8B030D-6E8A-4147-A177-3AD203B41FA5}">
                      <a16:colId xmlns:a16="http://schemas.microsoft.com/office/drawing/2014/main" val="3211990904"/>
                    </a:ext>
                  </a:extLst>
                </a:gridCol>
                <a:gridCol w="2504661">
                  <a:extLst>
                    <a:ext uri="{9D8B030D-6E8A-4147-A177-3AD203B41FA5}">
                      <a16:colId xmlns:a16="http://schemas.microsoft.com/office/drawing/2014/main" val="855295872"/>
                    </a:ext>
                  </a:extLst>
                </a:gridCol>
                <a:gridCol w="3750367">
                  <a:extLst>
                    <a:ext uri="{9D8B030D-6E8A-4147-A177-3AD203B41FA5}">
                      <a16:colId xmlns:a16="http://schemas.microsoft.com/office/drawing/2014/main" val="3600201840"/>
                    </a:ext>
                  </a:extLst>
                </a:gridCol>
              </a:tblGrid>
              <a:tr h="220431">
                <a:tc>
                  <a:txBody>
                    <a:bodyPr/>
                    <a:lstStyle/>
                    <a:p>
                      <a:pPr algn="ctr">
                        <a:lnSpc>
                          <a:spcPct val="150000"/>
                        </a:lnSpc>
                      </a:pPr>
                      <a:r>
                        <a:rPr lang="en-IN" sz="1200" dirty="0">
                          <a:latin typeface="Times New Roman" panose="02020603050405020304" pitchFamily="18" charset="0"/>
                          <a:cs typeface="Times New Roman" panose="02020603050405020304" pitchFamily="18" charset="0"/>
                        </a:rPr>
                        <a:t>Date</a:t>
                      </a:r>
                    </a:p>
                  </a:txBody>
                  <a:tcPr marL="39499" marR="39499" marT="19749" marB="19749" anchor="ctr"/>
                </a:tc>
                <a:tc>
                  <a:txBody>
                    <a:bodyPr/>
                    <a:lstStyle/>
                    <a:p>
                      <a:pPr algn="ctr">
                        <a:lnSpc>
                          <a:spcPct val="150000"/>
                        </a:lnSpc>
                      </a:pPr>
                      <a:r>
                        <a:rPr lang="en-IN" sz="1200">
                          <a:latin typeface="Times New Roman" panose="02020603050405020304" pitchFamily="18" charset="0"/>
                          <a:cs typeface="Times New Roman" panose="02020603050405020304" pitchFamily="18" charset="0"/>
                        </a:rPr>
                        <a:t>Title</a:t>
                      </a:r>
                    </a:p>
                  </a:txBody>
                  <a:tcPr marL="39499" marR="39499" marT="19749" marB="19749" anchor="ctr"/>
                </a:tc>
                <a:tc>
                  <a:txBody>
                    <a:bodyPr/>
                    <a:lstStyle/>
                    <a:p>
                      <a:pPr algn="ctr">
                        <a:lnSpc>
                          <a:spcPct val="150000"/>
                        </a:lnSpc>
                      </a:pPr>
                      <a:r>
                        <a:rPr lang="en-IN" sz="1200">
                          <a:latin typeface="Times New Roman" panose="02020603050405020304" pitchFamily="18" charset="0"/>
                          <a:cs typeface="Times New Roman" panose="02020603050405020304" pitchFamily="18" charset="0"/>
                        </a:rPr>
                        <a:t>Authors</a:t>
                      </a:r>
                    </a:p>
                  </a:txBody>
                  <a:tcPr marL="39499" marR="39499" marT="19749" marB="19749" anchor="ctr"/>
                </a:tc>
                <a:tc>
                  <a:txBody>
                    <a:bodyPr/>
                    <a:lstStyle/>
                    <a:p>
                      <a:pPr algn="ctr">
                        <a:lnSpc>
                          <a:spcPct val="150000"/>
                        </a:lnSpc>
                      </a:pPr>
                      <a:r>
                        <a:rPr lang="en-IN" sz="1200">
                          <a:latin typeface="Times New Roman" panose="02020603050405020304" pitchFamily="18" charset="0"/>
                          <a:cs typeface="Times New Roman" panose="02020603050405020304" pitchFamily="18" charset="0"/>
                        </a:rPr>
                        <a:t>Outcomes</a:t>
                      </a:r>
                    </a:p>
                  </a:txBody>
                  <a:tcPr marL="39499" marR="39499" marT="19749" marB="19749" anchor="ctr"/>
                </a:tc>
                <a:extLst>
                  <a:ext uri="{0D108BD9-81ED-4DB2-BD59-A6C34878D82A}">
                    <a16:rowId xmlns:a16="http://schemas.microsoft.com/office/drawing/2014/main" val="2431480019"/>
                  </a:ext>
                </a:extLst>
              </a:tr>
              <a:tr h="863020">
                <a:tc>
                  <a:txBody>
                    <a:bodyPr/>
                    <a:lstStyle/>
                    <a:p>
                      <a:pPr algn="ctr">
                        <a:lnSpc>
                          <a:spcPct val="150000"/>
                        </a:lnSpc>
                      </a:pPr>
                      <a:r>
                        <a:rPr lang="en-IN" sz="1200" dirty="0">
                          <a:latin typeface="Times New Roman" panose="02020603050405020304" pitchFamily="18" charset="0"/>
                          <a:cs typeface="Times New Roman" panose="02020603050405020304" pitchFamily="18" charset="0"/>
                        </a:rPr>
                        <a:t>20-21 January 2023</a:t>
                      </a:r>
                    </a:p>
                  </a:txBody>
                  <a:tcPr marL="39499" marR="39499" marT="19749" marB="19749" anchor="ctr"/>
                </a:tc>
                <a:tc>
                  <a:txBody>
                    <a:bodyPr/>
                    <a:lstStyle/>
                    <a:p>
                      <a:pPr algn="ctr">
                        <a:lnSpc>
                          <a:spcPct val="150000"/>
                        </a:lnSpc>
                      </a:pPr>
                      <a:r>
                        <a:rPr lang="en-US" sz="1200">
                          <a:latin typeface="Times New Roman" panose="02020603050405020304" pitchFamily="18" charset="0"/>
                          <a:cs typeface="Times New Roman" panose="02020603050405020304" pitchFamily="18" charset="0"/>
                        </a:rPr>
                        <a:t>Flood Management System Using Cloud Computing and Internet-of-Things</a:t>
                      </a:r>
                    </a:p>
                  </a:txBody>
                  <a:tcPr marL="39499" marR="39499" marT="19749" marB="19749" anchor="ctr"/>
                </a:tc>
                <a:tc>
                  <a:txBody>
                    <a:bodyPr/>
                    <a:lstStyle/>
                    <a:p>
                      <a:pPr algn="ctr">
                        <a:lnSpc>
                          <a:spcPct val="150000"/>
                        </a:lnSpc>
                      </a:pPr>
                      <a:r>
                        <a:rPr lang="en-US" sz="1200">
                          <a:latin typeface="Times New Roman" panose="02020603050405020304" pitchFamily="18" charset="0"/>
                          <a:cs typeface="Times New Roman" panose="02020603050405020304" pitchFamily="18" charset="0"/>
                        </a:rPr>
                        <a:t>Himanshu Rai Goyal, Sachin Sharma</a:t>
                      </a:r>
                    </a:p>
                  </a:txBody>
                  <a:tcPr marL="39499" marR="39499" marT="19749" marB="19749" anchor="ctr"/>
                </a:tc>
                <a:tc>
                  <a:txBody>
                    <a:bodyPr/>
                    <a:lstStyle/>
                    <a:p>
                      <a:pPr algn="just">
                        <a:lnSpc>
                          <a:spcPct val="150000"/>
                        </a:lnSpc>
                      </a:pPr>
                      <a:r>
                        <a:rPr lang="en-US" sz="1200" dirty="0">
                          <a:latin typeface="Times New Roman" panose="02020603050405020304" pitchFamily="18" charset="0"/>
                          <a:cs typeface="Times New Roman" panose="02020603050405020304" pitchFamily="18" charset="0"/>
                        </a:rPr>
                        <a:t>Designed a wastewater system using IoT to prevent urban flooding and reduce disaster damage by 40%.</a:t>
                      </a:r>
                    </a:p>
                  </a:txBody>
                  <a:tcPr marL="39499" marR="39499" marT="19749" marB="19749" anchor="ctr"/>
                </a:tc>
                <a:extLst>
                  <a:ext uri="{0D108BD9-81ED-4DB2-BD59-A6C34878D82A}">
                    <a16:rowId xmlns:a16="http://schemas.microsoft.com/office/drawing/2014/main" val="84097680"/>
                  </a:ext>
                </a:extLst>
              </a:tr>
              <a:tr h="863020">
                <a:tc>
                  <a:txBody>
                    <a:bodyPr/>
                    <a:lstStyle/>
                    <a:p>
                      <a:pPr algn="ctr">
                        <a:lnSpc>
                          <a:spcPct val="150000"/>
                        </a:lnSpc>
                      </a:pPr>
                      <a:r>
                        <a:rPr lang="en-IN" sz="1200" dirty="0">
                          <a:latin typeface="Times New Roman" panose="02020603050405020304" pitchFamily="18" charset="0"/>
                          <a:cs typeface="Times New Roman" panose="02020603050405020304" pitchFamily="18" charset="0"/>
                        </a:rPr>
                        <a:t>18-19 July 2017</a:t>
                      </a:r>
                    </a:p>
                  </a:txBody>
                  <a:tcPr marL="39499" marR="39499" marT="19749" marB="19749" anchor="ctr"/>
                </a:tc>
                <a:tc>
                  <a:txBody>
                    <a:bodyPr/>
                    <a:lstStyle/>
                    <a:p>
                      <a:pPr algn="ctr">
                        <a:lnSpc>
                          <a:spcPct val="150000"/>
                        </a:lnSpc>
                      </a:pPr>
                      <a:r>
                        <a:rPr lang="en-US" sz="1200" dirty="0">
                          <a:latin typeface="Times New Roman" panose="02020603050405020304" pitchFamily="18" charset="0"/>
                          <a:cs typeface="Times New Roman" panose="02020603050405020304" pitchFamily="18" charset="0"/>
                        </a:rPr>
                        <a:t>Video surveillance system for </a:t>
                      </a:r>
                      <a:r>
                        <a:rPr lang="en-US" sz="1200" dirty="0" err="1">
                          <a:latin typeface="Times New Roman" panose="02020603050405020304" pitchFamily="18" charset="0"/>
                          <a:cs typeface="Times New Roman" panose="02020603050405020304" pitchFamily="18" charset="0"/>
                        </a:rPr>
                        <a:t>realtime</a:t>
                      </a:r>
                      <a:r>
                        <a:rPr lang="en-US" sz="1200" dirty="0">
                          <a:latin typeface="Times New Roman" panose="02020603050405020304" pitchFamily="18" charset="0"/>
                          <a:cs typeface="Times New Roman" panose="02020603050405020304" pitchFamily="18" charset="0"/>
                        </a:rPr>
                        <a:t> flood detection</a:t>
                      </a:r>
                    </a:p>
                  </a:txBody>
                  <a:tcPr marL="39499" marR="39499" marT="19749" marB="19749" anchor="ctr"/>
                </a:tc>
                <a:tc>
                  <a:txBody>
                    <a:bodyPr/>
                    <a:lstStyle/>
                    <a:p>
                      <a:pPr algn="ctr">
                        <a:lnSpc>
                          <a:spcPct val="150000"/>
                        </a:lnSpc>
                      </a:pPr>
                      <a:r>
                        <a:rPr lang="fi-FI" sz="1200" dirty="0">
                          <a:latin typeface="Times New Roman" panose="02020603050405020304" pitchFamily="18" charset="0"/>
                          <a:cs typeface="Times New Roman" panose="02020603050405020304" pitchFamily="18" charset="0"/>
                        </a:rPr>
                        <a:t>K. Priya Menon, L. Kala</a:t>
                      </a:r>
                    </a:p>
                  </a:txBody>
                  <a:tcPr marL="39499" marR="39499" marT="19749" marB="19749" anchor="ctr"/>
                </a:tc>
                <a:tc>
                  <a:txBody>
                    <a:bodyPr/>
                    <a:lstStyle/>
                    <a:p>
                      <a:pPr algn="just">
                        <a:lnSpc>
                          <a:spcPct val="150000"/>
                        </a:lnSpc>
                      </a:pPr>
                      <a:r>
                        <a:rPr lang="en-US" sz="1200" dirty="0">
                          <a:latin typeface="Times New Roman" panose="02020603050405020304" pitchFamily="18" charset="0"/>
                          <a:cs typeface="Times New Roman" panose="02020603050405020304" pitchFamily="18" charset="0"/>
                        </a:rPr>
                        <a:t>Developed a video surveillance and mobile app for flood detection and alerts, reducing disaster impact.</a:t>
                      </a:r>
                    </a:p>
                  </a:txBody>
                  <a:tcPr marL="39499" marR="39499" marT="19749" marB="19749" anchor="ctr"/>
                </a:tc>
                <a:extLst>
                  <a:ext uri="{0D108BD9-81ED-4DB2-BD59-A6C34878D82A}">
                    <a16:rowId xmlns:a16="http://schemas.microsoft.com/office/drawing/2014/main" val="4070479686"/>
                  </a:ext>
                </a:extLst>
              </a:tr>
              <a:tr h="863020">
                <a:tc>
                  <a:txBody>
                    <a:bodyPr/>
                    <a:lstStyle/>
                    <a:p>
                      <a:pPr algn="ctr">
                        <a:lnSpc>
                          <a:spcPct val="150000"/>
                        </a:lnSpc>
                      </a:pPr>
                      <a:r>
                        <a:rPr lang="en-IN" sz="1200">
                          <a:latin typeface="Times New Roman" panose="02020603050405020304" pitchFamily="18" charset="0"/>
                          <a:cs typeface="Times New Roman" panose="02020603050405020304" pitchFamily="18" charset="0"/>
                        </a:rPr>
                        <a:t>10-13 October 2014</a:t>
                      </a:r>
                    </a:p>
                  </a:txBody>
                  <a:tcPr marL="39499" marR="39499" marT="19749" marB="19749" anchor="ctr"/>
                </a:tc>
                <a:tc>
                  <a:txBody>
                    <a:bodyPr/>
                    <a:lstStyle/>
                    <a:p>
                      <a:pPr algn="ctr">
                        <a:lnSpc>
                          <a:spcPct val="150000"/>
                        </a:lnSpc>
                      </a:pPr>
                      <a:r>
                        <a:rPr lang="en-US" sz="1200" dirty="0">
                          <a:latin typeface="Times New Roman" panose="02020603050405020304" pitchFamily="18" charset="0"/>
                          <a:cs typeface="Times New Roman" panose="02020603050405020304" pitchFamily="18" charset="0"/>
                        </a:rPr>
                        <a:t>Flooding through the lens of mobile phone activity</a:t>
                      </a:r>
                    </a:p>
                  </a:txBody>
                  <a:tcPr marL="39499" marR="39499" marT="19749" marB="19749" anchor="ctr"/>
                </a:tc>
                <a:tc>
                  <a:txBody>
                    <a:bodyPr/>
                    <a:lstStyle/>
                    <a:p>
                      <a:pPr algn="ctr">
                        <a:lnSpc>
                          <a:spcPct val="150000"/>
                        </a:lnSpc>
                      </a:pPr>
                      <a:r>
                        <a:rPr lang="es-ES" sz="1200">
                          <a:latin typeface="Times New Roman" panose="02020603050405020304" pitchFamily="18" charset="0"/>
                          <a:cs typeface="Times New Roman" panose="02020603050405020304" pitchFamily="18" charset="0"/>
                        </a:rPr>
                        <a:t>David Pastor-Escuredo, Alfredo Morales-Guzmán, et al.</a:t>
                      </a:r>
                    </a:p>
                  </a:txBody>
                  <a:tcPr marL="39499" marR="39499" marT="19749" marB="19749" anchor="ctr"/>
                </a:tc>
                <a:tc>
                  <a:txBody>
                    <a:bodyPr/>
                    <a:lstStyle/>
                    <a:p>
                      <a:pPr algn="just">
                        <a:lnSpc>
                          <a:spcPct val="150000"/>
                        </a:lnSpc>
                      </a:pPr>
                      <a:r>
                        <a:rPr lang="en-US" sz="1200" dirty="0">
                          <a:latin typeface="Times New Roman" panose="02020603050405020304" pitchFamily="18" charset="0"/>
                          <a:cs typeface="Times New Roman" panose="02020603050405020304" pitchFamily="18" charset="0"/>
                        </a:rPr>
                        <a:t>Used mobile data to monitor flood impacts and improve early warning systems for better disaster response.</a:t>
                      </a:r>
                    </a:p>
                  </a:txBody>
                  <a:tcPr marL="39499" marR="39499" marT="19749" marB="19749" anchor="ctr"/>
                </a:tc>
                <a:extLst>
                  <a:ext uri="{0D108BD9-81ED-4DB2-BD59-A6C34878D82A}">
                    <a16:rowId xmlns:a16="http://schemas.microsoft.com/office/drawing/2014/main" val="2369298649"/>
                  </a:ext>
                </a:extLst>
              </a:tr>
              <a:tr h="863020">
                <a:tc>
                  <a:txBody>
                    <a:bodyPr/>
                    <a:lstStyle/>
                    <a:p>
                      <a:pPr algn="ctr">
                        <a:lnSpc>
                          <a:spcPct val="150000"/>
                        </a:lnSpc>
                      </a:pPr>
                      <a:r>
                        <a:rPr lang="en-IN" sz="1200">
                          <a:latin typeface="Times New Roman" panose="02020603050405020304" pitchFamily="18" charset="0"/>
                          <a:cs typeface="Times New Roman" panose="02020603050405020304" pitchFamily="18" charset="0"/>
                        </a:rPr>
                        <a:t>17-19 August 2017</a:t>
                      </a:r>
                    </a:p>
                  </a:txBody>
                  <a:tcPr marL="39499" marR="39499" marT="19749" marB="19749" anchor="ctr"/>
                </a:tc>
                <a:tc>
                  <a:txBody>
                    <a:bodyPr/>
                    <a:lstStyle/>
                    <a:p>
                      <a:pPr algn="ctr">
                        <a:lnSpc>
                          <a:spcPct val="150000"/>
                        </a:lnSpc>
                      </a:pPr>
                      <a:r>
                        <a:rPr lang="en-US" sz="1200" dirty="0">
                          <a:latin typeface="Times New Roman" panose="02020603050405020304" pitchFamily="18" charset="0"/>
                          <a:cs typeface="Times New Roman" panose="02020603050405020304" pitchFamily="18" charset="0"/>
                        </a:rPr>
                        <a:t>Smart flood disaster prediction system using IoT &amp; neural networks</a:t>
                      </a:r>
                    </a:p>
                  </a:txBody>
                  <a:tcPr marL="39499" marR="39499" marT="19749" marB="19749" anchor="ctr"/>
                </a:tc>
                <a:tc>
                  <a:txBody>
                    <a:bodyPr/>
                    <a:lstStyle/>
                    <a:p>
                      <a:pPr algn="ctr">
                        <a:lnSpc>
                          <a:spcPct val="150000"/>
                        </a:lnSpc>
                      </a:pPr>
                      <a:r>
                        <a:rPr lang="en-IN" sz="1200" dirty="0">
                          <a:latin typeface="Times New Roman" panose="02020603050405020304" pitchFamily="18" charset="0"/>
                          <a:cs typeface="Times New Roman" panose="02020603050405020304" pitchFamily="18" charset="0"/>
                        </a:rPr>
                        <a:t>Swapnil </a:t>
                      </a:r>
                      <a:r>
                        <a:rPr lang="en-IN" sz="1200" dirty="0" err="1">
                          <a:latin typeface="Times New Roman" panose="02020603050405020304" pitchFamily="18" charset="0"/>
                          <a:cs typeface="Times New Roman" panose="02020603050405020304" pitchFamily="18" charset="0"/>
                        </a:rPr>
                        <a:t>Bande</a:t>
                      </a:r>
                      <a:r>
                        <a:rPr lang="en-IN" sz="1200" dirty="0">
                          <a:latin typeface="Times New Roman" panose="02020603050405020304" pitchFamily="18" charset="0"/>
                          <a:cs typeface="Times New Roman" panose="02020603050405020304" pitchFamily="18" charset="0"/>
                        </a:rPr>
                        <a:t>, Virendra V. </a:t>
                      </a:r>
                      <a:r>
                        <a:rPr lang="en-IN" sz="1200" dirty="0" err="1">
                          <a:latin typeface="Times New Roman" panose="02020603050405020304" pitchFamily="18" charset="0"/>
                          <a:cs typeface="Times New Roman" panose="02020603050405020304" pitchFamily="18" charset="0"/>
                        </a:rPr>
                        <a:t>Shete</a:t>
                      </a:r>
                      <a:endParaRPr lang="en-IN" sz="1200" dirty="0">
                        <a:latin typeface="Times New Roman" panose="02020603050405020304" pitchFamily="18" charset="0"/>
                        <a:cs typeface="Times New Roman" panose="02020603050405020304" pitchFamily="18" charset="0"/>
                      </a:endParaRPr>
                    </a:p>
                  </a:txBody>
                  <a:tcPr marL="39499" marR="39499" marT="19749" marB="19749" anchor="ctr"/>
                </a:tc>
                <a:tc>
                  <a:txBody>
                    <a:bodyPr/>
                    <a:lstStyle/>
                    <a:p>
                      <a:pPr algn="just">
                        <a:lnSpc>
                          <a:spcPct val="150000"/>
                        </a:lnSpc>
                      </a:pPr>
                      <a:r>
                        <a:rPr lang="en-US" sz="1200" dirty="0">
                          <a:latin typeface="Times New Roman" panose="02020603050405020304" pitchFamily="18" charset="0"/>
                          <a:cs typeface="Times New Roman" panose="02020603050405020304" pitchFamily="18" charset="0"/>
                        </a:rPr>
                        <a:t>Created IoT and ANN-based system to monitor and predict floods, enhancing flood management reliability.</a:t>
                      </a:r>
                    </a:p>
                  </a:txBody>
                  <a:tcPr marL="39499" marR="39499" marT="19749" marB="19749" anchor="ctr"/>
                </a:tc>
                <a:extLst>
                  <a:ext uri="{0D108BD9-81ED-4DB2-BD59-A6C34878D82A}">
                    <a16:rowId xmlns:a16="http://schemas.microsoft.com/office/drawing/2014/main" val="4191033510"/>
                  </a:ext>
                </a:extLst>
              </a:tr>
              <a:tr h="863020">
                <a:tc>
                  <a:txBody>
                    <a:bodyPr/>
                    <a:lstStyle/>
                    <a:p>
                      <a:pPr algn="ctr">
                        <a:lnSpc>
                          <a:spcPct val="150000"/>
                        </a:lnSpc>
                      </a:pPr>
                      <a:r>
                        <a:rPr lang="en-IN" sz="1200">
                          <a:latin typeface="Times New Roman" panose="02020603050405020304" pitchFamily="18" charset="0"/>
                          <a:cs typeface="Times New Roman" panose="02020603050405020304" pitchFamily="18" charset="0"/>
                        </a:rPr>
                        <a:t>21-25 September 2007</a:t>
                      </a:r>
                    </a:p>
                  </a:txBody>
                  <a:tcPr marL="39499" marR="39499" marT="19749" marB="19749" anchor="ctr"/>
                </a:tc>
                <a:tc>
                  <a:txBody>
                    <a:bodyPr/>
                    <a:lstStyle/>
                    <a:p>
                      <a:pPr algn="ctr">
                        <a:lnSpc>
                          <a:spcPct val="150000"/>
                        </a:lnSpc>
                      </a:pPr>
                      <a:r>
                        <a:rPr lang="en-US" sz="1200">
                          <a:latin typeface="Times New Roman" panose="02020603050405020304" pitchFamily="18" charset="0"/>
                          <a:cs typeface="Times New Roman" panose="02020603050405020304" pitchFamily="18" charset="0"/>
                        </a:rPr>
                        <a:t>Study on Decision Support System of Flood Disaster</a:t>
                      </a:r>
                    </a:p>
                  </a:txBody>
                  <a:tcPr marL="39499" marR="39499" marT="19749" marB="19749" anchor="ctr"/>
                </a:tc>
                <a:tc>
                  <a:txBody>
                    <a:bodyPr/>
                    <a:lstStyle/>
                    <a:p>
                      <a:pPr algn="ctr">
                        <a:lnSpc>
                          <a:spcPct val="150000"/>
                        </a:lnSpc>
                      </a:pPr>
                      <a:r>
                        <a:rPr lang="en-IN" sz="1200" dirty="0">
                          <a:latin typeface="Times New Roman" panose="02020603050405020304" pitchFamily="18" charset="0"/>
                          <a:cs typeface="Times New Roman" panose="02020603050405020304" pitchFamily="18" charset="0"/>
                        </a:rPr>
                        <a:t>Qing Yang, </a:t>
                      </a:r>
                      <a:r>
                        <a:rPr lang="en-IN" sz="1200" dirty="0" err="1">
                          <a:latin typeface="Times New Roman" panose="02020603050405020304" pitchFamily="18" charset="0"/>
                          <a:cs typeface="Times New Roman" panose="02020603050405020304" pitchFamily="18" charset="0"/>
                        </a:rPr>
                        <a:t>Qiang</a:t>
                      </a:r>
                      <a:r>
                        <a:rPr lang="en-IN" sz="1200" dirty="0">
                          <a:latin typeface="Times New Roman" panose="02020603050405020304" pitchFamily="18" charset="0"/>
                          <a:cs typeface="Times New Roman" panose="02020603050405020304" pitchFamily="18" charset="0"/>
                        </a:rPr>
                        <a:t> Zhang</a:t>
                      </a:r>
                    </a:p>
                  </a:txBody>
                  <a:tcPr marL="39499" marR="39499" marT="19749" marB="19749" anchor="ctr"/>
                </a:tc>
                <a:tc>
                  <a:txBody>
                    <a:bodyPr/>
                    <a:lstStyle/>
                    <a:p>
                      <a:pPr algn="just">
                        <a:lnSpc>
                          <a:spcPct val="150000"/>
                        </a:lnSpc>
                      </a:pPr>
                      <a:r>
                        <a:rPr lang="en-US" sz="1200" dirty="0">
                          <a:latin typeface="Times New Roman" panose="02020603050405020304" pitchFamily="18" charset="0"/>
                          <a:cs typeface="Times New Roman" panose="02020603050405020304" pitchFamily="18" charset="0"/>
                        </a:rPr>
                        <a:t>Proposed a DSS for flood emergency management covering pre, during, and post-disaster phases.</a:t>
                      </a:r>
                    </a:p>
                  </a:txBody>
                  <a:tcPr marL="39499" marR="39499" marT="19749" marB="19749" anchor="ctr"/>
                </a:tc>
                <a:extLst>
                  <a:ext uri="{0D108BD9-81ED-4DB2-BD59-A6C34878D82A}">
                    <a16:rowId xmlns:a16="http://schemas.microsoft.com/office/drawing/2014/main" val="2153733069"/>
                  </a:ext>
                </a:extLst>
              </a:tr>
            </a:tbl>
          </a:graphicData>
        </a:graphic>
      </p:graphicFrame>
    </p:spTree>
    <p:extLst>
      <p:ext uri="{BB962C8B-B14F-4D97-AF65-F5344CB8AC3E}">
        <p14:creationId xmlns:p14="http://schemas.microsoft.com/office/powerpoint/2010/main" val="26284639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762" y="1190445"/>
            <a:ext cx="10597720" cy="526212"/>
          </a:xfrm>
        </p:spPr>
        <p:txBody>
          <a:bodyPr>
            <a:normAutofit/>
          </a:bodyPr>
          <a:lstStyle/>
          <a:p>
            <a:pPr algn="ctr"/>
            <a:r>
              <a:rPr lang="en-US" sz="2400" b="1" dirty="0">
                <a:latin typeface="Times New Roman" panose="02020603050405020304" pitchFamily="18" charset="0"/>
                <a:cs typeface="Times New Roman" panose="02020603050405020304" pitchFamily="18" charset="0"/>
              </a:rPr>
              <a:t>Existing method:</a:t>
            </a:r>
          </a:p>
        </p:txBody>
      </p:sp>
      <p:sp>
        <p:nvSpPr>
          <p:cNvPr id="3" name="Content Placeholder 2"/>
          <p:cNvSpPr>
            <a:spLocks noGrp="1"/>
          </p:cNvSpPr>
          <p:nvPr>
            <p:ph idx="1"/>
          </p:nvPr>
        </p:nvSpPr>
        <p:spPr>
          <a:xfrm>
            <a:off x="1328531" y="2596433"/>
            <a:ext cx="9803296" cy="3477953"/>
          </a:xfrm>
        </p:spPr>
        <p:txBody>
          <a:bodyPr>
            <a:normAutofit/>
          </a:bodyPr>
          <a:lstStyle/>
          <a:p>
            <a:pPr marL="0" indent="0" algn="just">
              <a:lnSpc>
                <a:spcPct val="150000"/>
              </a:lnSpc>
              <a:spcAft>
                <a:spcPts val="800"/>
              </a:spcAft>
              <a:buNone/>
            </a:pPr>
            <a:r>
              <a:rPr lang="en-US" sz="1800" dirty="0">
                <a:latin typeface="Times New Roman" panose="02020603050405020304" pitchFamily="18" charset="0"/>
                <a:ea typeface="Calibri" panose="020F0502020204030204" pitchFamily="34" charset="0"/>
                <a:cs typeface="Times New Roman" panose="02020603050405020304" pitchFamily="18" charset="0"/>
              </a:rPr>
              <a:t>The existing system for flood disaster relief often relies on manual coordination, fragmented communication, and inefficient resource allocation. This approach leads to delays in assistance, difficulty in verifying the authenticity of requests and supporters, and a lack of real-time updates. The absence of a centralized platform hinders effective collaboration among donors, supporters, and users, reducing the overall effectiveness of disaster response efforts</a:t>
            </a:r>
            <a:r>
              <a:rPr lang="en-IN" sz="1800" dirty="0">
                <a:latin typeface="Times New Roman" panose="02020603050405020304" pitchFamily="18" charset="0"/>
                <a:ea typeface="Calibri" panose="020F0502020204030204" pitchFamily="34"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945839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186098" y="800892"/>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US" sz="2400" b="1" dirty="0">
              <a:latin typeface="Times New Roman" panose="02020603050405020304" pitchFamily="18" charset="0"/>
              <a:cs typeface="Times New Roman" panose="02020603050405020304" pitchFamily="18" charset="0"/>
            </a:endParaRPr>
          </a:p>
          <a:p>
            <a:pPr algn="ctr"/>
            <a:r>
              <a:rPr lang="en-US" sz="2400" b="1" dirty="0">
                <a:solidFill>
                  <a:schemeClr val="tx1"/>
                </a:solidFill>
                <a:latin typeface="Times New Roman" panose="02020603050405020304" pitchFamily="18" charset="0"/>
                <a:cs typeface="Times New Roman" panose="02020603050405020304" pitchFamily="18" charset="0"/>
              </a:rPr>
              <a:t>Disadvantages in Existing method:</a:t>
            </a:r>
          </a:p>
        </p:txBody>
      </p:sp>
      <p:sp>
        <p:nvSpPr>
          <p:cNvPr id="5" name="Content Placeholder 2"/>
          <p:cNvSpPr txBox="1">
            <a:spLocks/>
          </p:cNvSpPr>
          <p:nvPr/>
        </p:nvSpPr>
        <p:spPr>
          <a:xfrm>
            <a:off x="1531548" y="2714176"/>
            <a:ext cx="8915400" cy="198015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lvl="0">
              <a:lnSpc>
                <a:spcPct val="150000"/>
              </a:lnSpc>
              <a:spcAft>
                <a:spcPts val="1000"/>
              </a:spcAft>
              <a:buFont typeface="Arial" panose="020B0604020202020204" pitchFamily="34" charset="0"/>
              <a:buChar char="•"/>
            </a:pPr>
            <a:r>
              <a:rPr lang="en-US" dirty="0">
                <a:solidFill>
                  <a:srgbClr val="231F20"/>
                </a:solidFill>
                <a:latin typeface="Times New Roman" panose="02020603050405020304" pitchFamily="18" charset="0"/>
                <a:ea typeface="Calibri" panose="020F0502020204030204" pitchFamily="34" charset="0"/>
                <a:cs typeface="Times New Roman" panose="02020603050405020304" pitchFamily="18" charset="0"/>
              </a:rPr>
              <a:t>Manual and fragmented communication causes delays and hinders the timely delivery of aid, leading to potential gaps in disaster response.</a:t>
            </a:r>
            <a:endParaRPr lang="en-IN" dirty="0">
              <a:cs typeface="Times New Roman" panose="02020603050405020304" pitchFamily="18" charset="0"/>
            </a:endParaRPr>
          </a:p>
          <a:p>
            <a:r>
              <a:rPr lang="en-US" dirty="0">
                <a:solidFill>
                  <a:srgbClr val="231F20"/>
                </a:solidFill>
                <a:latin typeface="Times New Roman" panose="02020603050405020304" pitchFamily="18" charset="0"/>
                <a:ea typeface="Calibri" panose="020F0502020204030204" pitchFamily="34" charset="0"/>
              </a:rPr>
              <a:t>Absence of a centralized platform prevents real-time updates and efficient tracking of requests, reducing overall response effectiveness</a:t>
            </a:r>
            <a:endPar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814825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270649" y="659969"/>
            <a:ext cx="8911687" cy="1280890"/>
          </a:xfrm>
        </p:spPr>
        <p:txBody>
          <a:bodyPr>
            <a:normAutofit/>
          </a:bodyPr>
          <a:lstStyle/>
          <a:p>
            <a:pPr algn="ctr"/>
            <a:r>
              <a:rPr lang="en-US" sz="2400" b="1" dirty="0">
                <a:latin typeface="Times New Roman" panose="02020603050405020304" pitchFamily="18" charset="0"/>
                <a:cs typeface="Times New Roman" panose="02020603050405020304" pitchFamily="18" charset="0"/>
              </a:rPr>
              <a:t>Proposed method:</a:t>
            </a:r>
          </a:p>
        </p:txBody>
      </p:sp>
      <p:sp>
        <p:nvSpPr>
          <p:cNvPr id="5" name="Content Placeholder 2"/>
          <p:cNvSpPr>
            <a:spLocks noGrp="1"/>
          </p:cNvSpPr>
          <p:nvPr>
            <p:ph idx="1"/>
          </p:nvPr>
        </p:nvSpPr>
        <p:spPr>
          <a:xfrm>
            <a:off x="1270650" y="2628900"/>
            <a:ext cx="9976470" cy="3215309"/>
          </a:xfrm>
        </p:spPr>
        <p:txBody>
          <a:bodyPr>
            <a:normAutofit fontScale="85000" lnSpcReduction="10000"/>
          </a:bodyPr>
          <a:lstStyle/>
          <a:p>
            <a:pPr algn="just">
              <a:lnSpc>
                <a:spcPct val="150000"/>
              </a:lnSpc>
              <a:spcAft>
                <a:spcPts val="800"/>
              </a:spcAft>
            </a:pPr>
            <a:r>
              <a:rPr lang="en-US" sz="19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 proposed system is a mobile application designed to enhance flood disaster relief efforts through efficient coordination and communication. The application features role-specific functionalities for donors, supporters, users, and administrators. Donors and supporters can register, log in, view, and accept requests for assistance. Users can register, log in, add aid requests, and track their request history. Administrators are responsible for verifying supporter profiles and requests before they are visible to donors. The system ensures real-time updates, streamlined resource allocation, and transparent interactions, significantly improving the efficiency and effectiveness of disaster response and relief operations</a:t>
            </a:r>
            <a:r>
              <a:rPr lang="en-IN" sz="19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t>
            </a:r>
            <a:endParaRPr lang="en-IN" sz="1900" dirty="0">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50000"/>
              </a:lnSpc>
              <a:buNone/>
            </a:pPr>
            <a:r>
              <a:rPr lang="en-US" sz="1800" dirty="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86817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257183" y="800892"/>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US" sz="2400" b="1" dirty="0">
              <a:latin typeface="Times New Roman" panose="02020603050405020304" pitchFamily="18" charset="0"/>
              <a:cs typeface="Times New Roman" panose="02020603050405020304" pitchFamily="18" charset="0"/>
            </a:endParaRPr>
          </a:p>
          <a:p>
            <a:pPr algn="ctr"/>
            <a:r>
              <a:rPr lang="en-US" sz="2400" b="1" dirty="0">
                <a:solidFill>
                  <a:schemeClr val="tx1"/>
                </a:solidFill>
                <a:latin typeface="Times New Roman" panose="02020603050405020304" pitchFamily="18" charset="0"/>
                <a:cs typeface="Times New Roman" panose="02020603050405020304" pitchFamily="18" charset="0"/>
              </a:rPr>
              <a:t>Advantages of Proposed method:</a:t>
            </a:r>
            <a:br>
              <a:rPr lang="en-US" altLang="en-US" sz="2400" b="1" dirty="0">
                <a:latin typeface="Times New Roman" panose="02020603050405020304" pitchFamily="18" charset="0"/>
                <a:cs typeface="Times New Roman" panose="02020603050405020304" pitchFamily="18" charset="0"/>
              </a:rPr>
            </a:br>
            <a:endParaRPr lang="en-US" sz="2400" b="1" dirty="0">
              <a:latin typeface="Times New Roman" panose="02020603050405020304" pitchFamily="18" charset="0"/>
              <a:cs typeface="Times New Roman" panose="02020603050405020304" pitchFamily="18" charset="0"/>
            </a:endParaRPr>
          </a:p>
        </p:txBody>
      </p:sp>
      <p:sp>
        <p:nvSpPr>
          <p:cNvPr id="5" name="Content Placeholder 2"/>
          <p:cNvSpPr txBox="1">
            <a:spLocks/>
          </p:cNvSpPr>
          <p:nvPr/>
        </p:nvSpPr>
        <p:spPr>
          <a:xfrm>
            <a:off x="1424092" y="2887408"/>
            <a:ext cx="8915400" cy="377762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lvl="0">
              <a:lnSpc>
                <a:spcPct val="150000"/>
              </a:lnSpc>
              <a:spcBef>
                <a:spcPts val="1200"/>
              </a:spcBef>
              <a:spcAft>
                <a:spcPts val="800"/>
              </a:spcAft>
              <a:buFont typeface="Symbol" panose="05050102010706020507" pitchFamily="18" charset="2"/>
              <a:buChar char=""/>
            </a:pPr>
            <a:r>
              <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Manual and fragmented communication causes delays and hinders the timely delivery of aid, leading to potential gaps in disaster response.</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r>
              <a:rPr lang="en-US" dirty="0">
                <a:solidFill>
                  <a:srgbClr val="000000"/>
                </a:solidFill>
                <a:latin typeface="Times New Roman" panose="02020603050405020304" pitchFamily="18" charset="0"/>
                <a:ea typeface="Times New Roman" panose="02020603050405020304" pitchFamily="18" charset="0"/>
              </a:rPr>
              <a:t>Absence of a centralized platform prevents real-time updates and efficient tracking of requests, reducing overall response effectiveness</a:t>
            </a:r>
            <a:r>
              <a:rPr lang="en-IN" dirty="0">
                <a:latin typeface="Times New Roman" panose="02020603050405020304" pitchFamily="18" charset="0"/>
                <a:ea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292328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Propose System Flow</a:t>
            </a:r>
          </a:p>
        </p:txBody>
      </p:sp>
      <p:sp>
        <p:nvSpPr>
          <p:cNvPr id="5" name="Content Placeholder 2"/>
          <p:cNvSpPr txBox="1"/>
          <p:nvPr/>
        </p:nvSpPr>
        <p:spPr>
          <a:xfrm>
            <a:off x="1740016" y="1911179"/>
            <a:ext cx="8596668" cy="3880773"/>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marL="118745" indent="0" algn="just">
              <a:lnSpc>
                <a:spcPct val="150000"/>
              </a:lnSpc>
              <a:buNone/>
            </a:pPr>
            <a:endParaRPr lang="en-US" dirty="0">
              <a:solidFill>
                <a:schemeClr val="accent3">
                  <a:lumMod val="50000"/>
                </a:schemeClr>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DDBB892D-D0C1-4E97-A3AD-54F8318BF760}"/>
              </a:ext>
            </a:extLst>
          </p:cNvPr>
          <p:cNvPicPr>
            <a:picLocks noChangeAspect="1"/>
          </p:cNvPicPr>
          <p:nvPr/>
        </p:nvPicPr>
        <p:blipFill>
          <a:blip r:embed="rId2"/>
          <a:stretch>
            <a:fillRect/>
          </a:stretch>
        </p:blipFill>
        <p:spPr>
          <a:xfrm>
            <a:off x="3230631" y="2663885"/>
            <a:ext cx="5730737" cy="1530229"/>
          </a:xfrm>
          <a:prstGeom prst="rect">
            <a:avLst/>
          </a:prstGeom>
        </p:spPr>
      </p:pic>
    </p:spTree>
    <p:extLst>
      <p:ext uri="{BB962C8B-B14F-4D97-AF65-F5344CB8AC3E}">
        <p14:creationId xmlns:p14="http://schemas.microsoft.com/office/powerpoint/2010/main" val="9467966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HARDWARE &amp; SOFTWARE REQUIREMENTS</a:t>
            </a:r>
          </a:p>
        </p:txBody>
      </p:sp>
      <p:sp>
        <p:nvSpPr>
          <p:cNvPr id="4" name="Content Placeholder 2"/>
          <p:cNvSpPr txBox="1"/>
          <p:nvPr/>
        </p:nvSpPr>
        <p:spPr>
          <a:xfrm>
            <a:off x="2092735" y="2011149"/>
            <a:ext cx="8892944" cy="3576851"/>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marL="0" indent="0" algn="just">
              <a:lnSpc>
                <a:spcPct val="150000"/>
              </a:lnSpc>
              <a:buNone/>
            </a:pPr>
            <a:r>
              <a:rPr lang="en-US" sz="2000" b="1" dirty="0">
                <a:solidFill>
                  <a:schemeClr val="accent3">
                    <a:lumMod val="50000"/>
                  </a:schemeClr>
                </a:solidFill>
                <a:latin typeface="Times New Roman" panose="02020603050405020304" pitchFamily="18" charset="0"/>
                <a:cs typeface="Times New Roman" panose="02020603050405020304" pitchFamily="18" charset="0"/>
              </a:rPr>
              <a:t>SOFTWARE REQUIREMENS</a:t>
            </a:r>
            <a:endParaRPr lang="en-US" sz="2000" dirty="0">
              <a:latin typeface="Times New Roman" panose="02020603050405020304" pitchFamily="18" charset="0"/>
              <a:cs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tabLst>
                <a:tab pos="457200" algn="l"/>
              </a:tabLs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Operating System      	-   Windows 10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tabLst>
                <a:tab pos="457200" algn="l"/>
              </a:tabLs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JDK					-   Java(</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kotlin</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tabLst>
                <a:tab pos="457200" algn="l"/>
              </a:tabLs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SDK					-   Android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tabLst>
                <a:tab pos="457200" algn="l"/>
              </a:tabLs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IDE					- Android studio</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tabLst>
                <a:tab pos="457200" algn="l"/>
              </a:tabLs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Database				- my </a:t>
            </a:r>
            <a:r>
              <a:rPr lang="en-IN" sz="2000" dirty="0">
                <a:latin typeface="Times New Roman" panose="02020603050405020304" pitchFamily="18" charset="0"/>
                <a:ea typeface="Calibri" panose="020F0502020204030204" pitchFamily="34" charset="0"/>
                <a:cs typeface="Times New Roman" panose="02020603050405020304" pitchFamily="18" charset="0"/>
              </a:rPr>
              <a:t>SQL</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137160" indent="0" algn="just">
              <a:lnSpc>
                <a:spcPct val="150000"/>
              </a:lnSpc>
              <a:buNone/>
            </a:pPr>
            <a:r>
              <a:rPr lang="en-US" sz="2000" dirty="0">
                <a:latin typeface="Times New Roman" panose="02020603050405020304" pitchFamily="18" charset="0"/>
                <a:cs typeface="Times New Roman" panose="02020603050405020304" pitchFamily="18" charset="0"/>
              </a:rPr>
              <a:t>      </a:t>
            </a:r>
            <a:endParaRPr lang="en-US" sz="2000" b="1" dirty="0">
              <a:solidFill>
                <a:schemeClr val="accent3">
                  <a:lumMod val="50000"/>
                </a:schemeClr>
              </a:solidFill>
              <a:latin typeface="Times New Roman" panose="02020603050405020304" pitchFamily="18"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98363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HARDWARE &amp; SOFTWARE REQUIREMENTS</a:t>
            </a:r>
          </a:p>
        </p:txBody>
      </p:sp>
      <p:sp>
        <p:nvSpPr>
          <p:cNvPr id="5" name="Content Placeholder 2"/>
          <p:cNvSpPr txBox="1"/>
          <p:nvPr/>
        </p:nvSpPr>
        <p:spPr>
          <a:xfrm>
            <a:off x="1740016" y="1911179"/>
            <a:ext cx="8596668" cy="3880773"/>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marL="118745" indent="0" algn="just">
              <a:lnSpc>
                <a:spcPct val="150000"/>
              </a:lnSpc>
              <a:buNone/>
            </a:pPr>
            <a:r>
              <a:rPr lang="en-US" b="1" dirty="0">
                <a:solidFill>
                  <a:schemeClr val="accent3">
                    <a:lumMod val="50000"/>
                  </a:schemeClr>
                </a:solidFill>
                <a:latin typeface="Times New Roman" panose="02020603050405020304" pitchFamily="18" charset="0"/>
                <a:cs typeface="Times New Roman" panose="02020603050405020304" pitchFamily="18" charset="0"/>
              </a:rPr>
              <a:t>HARDWARE REQUIREMENTS</a:t>
            </a:r>
          </a:p>
          <a:p>
            <a:pPr marL="342900" lvl="0" indent="-342900" algn="just">
              <a:lnSpc>
                <a:spcPct val="115000"/>
              </a:lnSpc>
              <a:spcAft>
                <a:spcPts val="1000"/>
              </a:spcAft>
              <a:buFont typeface="Symbol" panose="05050102010706020507" pitchFamily="18" charset="2"/>
              <a:buChar char=""/>
              <a:tabLst>
                <a:tab pos="457200" algn="l"/>
              </a:tabLst>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Processor                        -    I3/Intel Processor</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tabLst>
                <a:tab pos="457200" algn="l"/>
              </a:tabLst>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RAM                              -    8 GB </a:t>
            </a:r>
            <a:endParaRPr lang="en-IN"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tabLst>
                <a:tab pos="457200" algn="l"/>
              </a:tabLst>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Hard Disk                      -    1TB</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118745" indent="0" algn="just">
              <a:lnSpc>
                <a:spcPct val="150000"/>
              </a:lnSpc>
              <a:buNone/>
            </a:pPr>
            <a:endParaRPr lang="en-US" dirty="0">
              <a:solidFill>
                <a:schemeClr val="accent3">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34282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20523" y="586121"/>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ltLang="en-US" sz="3600" b="1" dirty="0">
                <a:latin typeface="Times New Roman" panose="02020603050405020304" pitchFamily="18" charset="0"/>
                <a:cs typeface="Times New Roman" panose="02020603050405020304" pitchFamily="18" charset="0"/>
              </a:rPr>
              <a:t>Modules</a:t>
            </a:r>
            <a:br>
              <a:rPr lang="en-US" altLang="en-US" sz="3600" b="1" dirty="0">
                <a:latin typeface="Times New Roman" panose="02020603050405020304" pitchFamily="18" charset="0"/>
                <a:cs typeface="Times New Roman" panose="02020603050405020304" pitchFamily="18" charset="0"/>
              </a:rPr>
            </a:br>
            <a:endParaRPr lang="en-US" sz="3600" b="1" dirty="0"/>
          </a:p>
        </p:txBody>
      </p:sp>
      <p:sp>
        <p:nvSpPr>
          <p:cNvPr id="7" name="Rectangle 6"/>
          <p:cNvSpPr>
            <a:spLocks noChangeArrowheads="1"/>
          </p:cNvSpPr>
          <p:nvPr/>
        </p:nvSpPr>
        <p:spPr bwMode="auto">
          <a:xfrm>
            <a:off x="1720523" y="604005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Rectangle 3">
            <a:extLst>
              <a:ext uri="{FF2B5EF4-FFF2-40B4-BE49-F238E27FC236}">
                <a16:creationId xmlns:a16="http://schemas.microsoft.com/office/drawing/2014/main" id="{35CD004F-B331-4C8B-A36C-E5D21695F5B3}"/>
              </a:ext>
            </a:extLst>
          </p:cNvPr>
          <p:cNvSpPr/>
          <p:nvPr/>
        </p:nvSpPr>
        <p:spPr>
          <a:xfrm>
            <a:off x="934278" y="1502917"/>
            <a:ext cx="10323443" cy="3931654"/>
          </a:xfrm>
          <a:prstGeom prst="rect">
            <a:avLst/>
          </a:prstGeom>
        </p:spPr>
        <p:txBody>
          <a:bodyPr wrap="square">
            <a:spAutoFit/>
          </a:bodyPr>
          <a:lstStyle/>
          <a:p>
            <a:pPr algn="just">
              <a:lnSpc>
                <a:spcPct val="150000"/>
              </a:lnSpc>
            </a:pPr>
            <a:r>
              <a:rPr lang="en-US" sz="1400" b="1" dirty="0">
                <a:solidFill>
                  <a:srgbClr val="000000"/>
                </a:solidFill>
                <a:latin typeface="Times New Roman" panose="02020603050405020304" pitchFamily="18" charset="0"/>
                <a:ea typeface="Times New Roman" panose="02020603050405020304" pitchFamily="18" charset="0"/>
              </a:rPr>
              <a:t>USERS: </a:t>
            </a:r>
            <a:r>
              <a:rPr lang="en-US" sz="1400" dirty="0">
                <a:solidFill>
                  <a:srgbClr val="000000"/>
                </a:solidFill>
                <a:latin typeface="Times New Roman" panose="02020603050405020304" pitchFamily="18" charset="0"/>
                <a:ea typeface="Times New Roman" panose="02020603050405020304" pitchFamily="18" charset="0"/>
              </a:rPr>
              <a:t>Users can Register, Login, Add Request for assistance, view their request History, and access real-time information on the Safety of flood-affected areas. This comprehensive set of features ensures users receive timely help and stay informed about safety measures during flood disasters.</a:t>
            </a:r>
          </a:p>
          <a:p>
            <a:pPr algn="just">
              <a:lnSpc>
                <a:spcPct val="150000"/>
              </a:lnSpc>
            </a:pPr>
            <a:endParaRPr lang="en-IN" sz="1400" dirty="0">
              <a:latin typeface="Times New Roman" panose="02020603050405020304" pitchFamily="18" charset="0"/>
              <a:ea typeface="Times New Roman" panose="02020603050405020304" pitchFamily="18" charset="0"/>
            </a:endParaRPr>
          </a:p>
          <a:p>
            <a:pPr algn="just">
              <a:lnSpc>
                <a:spcPct val="150000"/>
              </a:lnSpc>
            </a:pPr>
            <a:r>
              <a:rPr lang="en-US" sz="1400" b="1" dirty="0">
                <a:solidFill>
                  <a:srgbClr val="000000"/>
                </a:solidFill>
                <a:latin typeface="Times New Roman" panose="02020603050405020304" pitchFamily="18" charset="0"/>
                <a:ea typeface="Times New Roman" panose="02020603050405020304" pitchFamily="18" charset="0"/>
              </a:rPr>
              <a:t>ADMIN: </a:t>
            </a:r>
            <a:r>
              <a:rPr lang="en-US" sz="1400" dirty="0">
                <a:solidFill>
                  <a:srgbClr val="000000"/>
                </a:solidFill>
                <a:latin typeface="Times New Roman" panose="02020603050405020304" pitchFamily="18" charset="0"/>
                <a:ea typeface="Times New Roman" panose="02020603050405020304" pitchFamily="18" charset="0"/>
              </a:rPr>
              <a:t>Admin can Login, Verify Supporter Profiles, and Verify Requests. Only after verification will the requests be visible to Donors, ensuring that all aid efforts are legitimate and authenticated, enhancing the overall trust and efficiency of the disaster relief process.</a:t>
            </a:r>
          </a:p>
          <a:p>
            <a:pPr algn="just">
              <a:lnSpc>
                <a:spcPct val="150000"/>
              </a:lnSpc>
            </a:pPr>
            <a:endParaRPr lang="en-IN" sz="1400" dirty="0">
              <a:latin typeface="Times New Roman" panose="02020603050405020304" pitchFamily="18" charset="0"/>
              <a:ea typeface="Times New Roman" panose="02020603050405020304" pitchFamily="18" charset="0"/>
            </a:endParaRPr>
          </a:p>
          <a:p>
            <a:pPr algn="just">
              <a:lnSpc>
                <a:spcPct val="150000"/>
              </a:lnSpc>
            </a:pPr>
            <a:r>
              <a:rPr lang="en-US" sz="1400" b="1" dirty="0">
                <a:solidFill>
                  <a:srgbClr val="000000"/>
                </a:solidFill>
                <a:latin typeface="Times New Roman" panose="02020603050405020304" pitchFamily="18" charset="0"/>
                <a:ea typeface="Times New Roman" panose="02020603050405020304" pitchFamily="18" charset="0"/>
              </a:rPr>
              <a:t>SUPPORTERS: </a:t>
            </a:r>
            <a:r>
              <a:rPr lang="en-US" sz="1400" dirty="0">
                <a:solidFill>
                  <a:srgbClr val="000000"/>
                </a:solidFill>
                <a:latin typeface="Times New Roman" panose="02020603050405020304" pitchFamily="18" charset="0"/>
                <a:ea typeface="Times New Roman" panose="02020603050405020304" pitchFamily="18" charset="0"/>
              </a:rPr>
              <a:t>Supporters can Register, Login, View Requests, and Accept Requests. This allows supporters to actively participate in disaster relief efforts, providing timely and necessary assistance to those affected by floods, ensuring a coordinated and efficient response.</a:t>
            </a:r>
            <a:endParaRPr lang="en-IN" sz="1400" dirty="0">
              <a:latin typeface="Times New Roman" panose="02020603050405020304" pitchFamily="18" charset="0"/>
              <a:ea typeface="Times New Roman" panose="02020603050405020304" pitchFamily="18" charset="0"/>
            </a:endParaRPr>
          </a:p>
          <a:p>
            <a:pPr algn="just">
              <a:lnSpc>
                <a:spcPct val="150000"/>
              </a:lnSpc>
            </a:pPr>
            <a:r>
              <a:rPr lang="en-US" sz="1400" b="1" dirty="0">
                <a:solidFill>
                  <a:srgbClr val="000000"/>
                </a:solidFill>
                <a:latin typeface="Times New Roman" panose="02020603050405020304" pitchFamily="18" charset="0"/>
                <a:ea typeface="Times New Roman" panose="02020603050405020304" pitchFamily="18" charset="0"/>
              </a:rPr>
              <a:t> </a:t>
            </a:r>
            <a:endParaRPr lang="en-IN" sz="1400" dirty="0">
              <a:latin typeface="Times New Roman" panose="02020603050405020304" pitchFamily="18" charset="0"/>
              <a:ea typeface="Times New Roman" panose="02020603050405020304" pitchFamily="18" charset="0"/>
            </a:endParaRPr>
          </a:p>
          <a:p>
            <a:pPr algn="just">
              <a:lnSpc>
                <a:spcPct val="150000"/>
              </a:lnSpc>
            </a:pPr>
            <a:r>
              <a:rPr lang="en-US" sz="1400" b="1" dirty="0">
                <a:solidFill>
                  <a:srgbClr val="000000"/>
                </a:solidFill>
                <a:latin typeface="Times New Roman" panose="02020603050405020304" pitchFamily="18" charset="0"/>
                <a:ea typeface="Times New Roman" panose="02020603050405020304" pitchFamily="18" charset="0"/>
              </a:rPr>
              <a:t>DONORS: </a:t>
            </a:r>
            <a:r>
              <a:rPr lang="en-US" sz="1400" dirty="0">
                <a:solidFill>
                  <a:srgbClr val="000000"/>
                </a:solidFill>
                <a:latin typeface="Times New Roman" panose="02020603050405020304" pitchFamily="18" charset="0"/>
                <a:ea typeface="Times New Roman" panose="02020603050405020304" pitchFamily="18" charset="0"/>
              </a:rPr>
              <a:t>Donors can Register, Login, View Requests, and Accept Requests. This enables donors to efficiently contribute to flood disaster relief efforts by directly addressing the needs of affected individuals and ensuring timely support and resource allocation.</a:t>
            </a:r>
            <a:endParaRPr lang="en-IN" sz="14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684711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97722" y="86059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771135" y="1911179"/>
            <a:ext cx="9045146" cy="3784600"/>
          </a:xfrm>
          <a:prstGeom prst="rect">
            <a:avLst/>
          </a:prstGeom>
          <a:noFill/>
        </p:spPr>
        <p:txBody>
          <a:bodyPr wrap="square" rtlCol="0">
            <a:spAutoFit/>
          </a:bodyPr>
          <a:lstStyle/>
          <a:p>
            <a:pPr marL="342900" lvl="0" indent="-342900" algn="just">
              <a:lnSpc>
                <a:spcPct val="150000"/>
              </a:lnSpc>
              <a:buFont typeface="Wingdings" panose="05000000000000000000" pitchFamily="2" charset="2"/>
              <a:buChar char="§"/>
            </a:pPr>
            <a:r>
              <a:rPr lang="en-US" sz="2000" b="1">
                <a:latin typeface="Times New Roman" panose="02020603050405020304" pitchFamily="18" charset="0"/>
                <a:cs typeface="Times New Roman" panose="02020603050405020304" pitchFamily="18" charset="0"/>
              </a:rPr>
              <a:t>Use Case Diagram:</a:t>
            </a:r>
          </a:p>
          <a:p>
            <a:pPr marL="342900" lvl="0" indent="-342900" algn="just">
              <a:lnSpc>
                <a:spcPct val="150000"/>
              </a:lnSpc>
              <a:buFont typeface="Wingdings" panose="05000000000000000000" pitchFamily="2" charset="2"/>
              <a:buChar char="§"/>
            </a:pPr>
            <a:r>
              <a:rPr lang="en-US" sz="2000">
                <a:latin typeface="Times New Roman" panose="02020603050405020304" pitchFamily="18" charset="0"/>
                <a:cs typeface="Times New Roman" panose="02020603050405020304" pitchFamily="18" charset="0"/>
              </a:rPr>
              <a:t>A use case diagram in the Unified Modeling Language (UML) is a type of behavioral diagram defined by and created from a Use-case analysis. Its purpose is to present a graphical overview of the functionality provided by a system in terms of actors, their goals (represented as use cases), and any dependencies between those use cases. The main purpose of a use case diagram is to show what system functions are performed for which actor. Roles of the actors in the system can be depicted.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97666" y="69913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 Box 1"/>
          <p:cNvSpPr txBox="1"/>
          <p:nvPr/>
        </p:nvSpPr>
        <p:spPr>
          <a:xfrm>
            <a:off x="4534535" y="5790565"/>
            <a:ext cx="3307080" cy="368300"/>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Figure: Use Case Diagram</a:t>
            </a:r>
          </a:p>
        </p:txBody>
      </p:sp>
      <p:pic>
        <p:nvPicPr>
          <p:cNvPr id="4" name="Picture 3">
            <a:extLst>
              <a:ext uri="{FF2B5EF4-FFF2-40B4-BE49-F238E27FC236}">
                <a16:creationId xmlns:a16="http://schemas.microsoft.com/office/drawing/2014/main" id="{47E87DB5-A156-46AB-8F05-828A6F04657C}"/>
              </a:ext>
            </a:extLst>
          </p:cNvPr>
          <p:cNvPicPr>
            <a:picLocks noChangeAspect="1"/>
          </p:cNvPicPr>
          <p:nvPr/>
        </p:nvPicPr>
        <p:blipFill>
          <a:blip r:embed="rId2"/>
          <a:stretch>
            <a:fillRect/>
          </a:stretch>
        </p:blipFill>
        <p:spPr>
          <a:xfrm>
            <a:off x="3230631" y="2154825"/>
            <a:ext cx="5730737" cy="254834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97722" y="86059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771135" y="1911179"/>
            <a:ext cx="9045146" cy="2345322"/>
          </a:xfrm>
          <a:prstGeom prst="rect">
            <a:avLst/>
          </a:prstGeom>
          <a:noFill/>
        </p:spPr>
        <p:txBody>
          <a:bodyPr wrap="square" rtlCol="0">
            <a:spAutoFit/>
          </a:bodyPr>
          <a:lstStyle/>
          <a:p>
            <a:pPr marL="342900" lvl="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Class Diagram:</a:t>
            </a:r>
          </a:p>
          <a:p>
            <a:pPr algn="just">
              <a:lnSpc>
                <a:spcPct val="150000"/>
              </a:lnSpc>
            </a:pPr>
            <a:r>
              <a:rPr lang="en-US" sz="2000" dirty="0">
                <a:latin typeface="Times New Roman" panose="02020603050405020304" pitchFamily="18" charset="0"/>
                <a:cs typeface="Times New Roman" panose="02020603050405020304" pitchFamily="18" charset="0"/>
              </a:rPr>
              <a:t>In software engineering, a class diagram in the Unified Modelling Language (UML) is a type of static structure diagram that describes the structure of a system by showing the system's classes, their attributes, operations (or methods), and the relationships among the classes. It explains which class contains information.</a:t>
            </a:r>
          </a:p>
        </p:txBody>
      </p:sp>
    </p:spTree>
    <p:extLst>
      <p:ext uri="{BB962C8B-B14F-4D97-AF65-F5344CB8AC3E}">
        <p14:creationId xmlns:p14="http://schemas.microsoft.com/office/powerpoint/2010/main" val="18781646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274827" y="5760689"/>
            <a:ext cx="2973860"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Class diagram</a:t>
            </a:r>
          </a:p>
        </p:txBody>
      </p:sp>
      <p:pic>
        <p:nvPicPr>
          <p:cNvPr id="4" name="Picture 3">
            <a:extLst>
              <a:ext uri="{FF2B5EF4-FFF2-40B4-BE49-F238E27FC236}">
                <a16:creationId xmlns:a16="http://schemas.microsoft.com/office/drawing/2014/main" id="{82BB0B6C-51E3-4A31-BC2F-4547F04DCC40}"/>
              </a:ext>
            </a:extLst>
          </p:cNvPr>
          <p:cNvPicPr>
            <a:picLocks noChangeAspect="1"/>
          </p:cNvPicPr>
          <p:nvPr/>
        </p:nvPicPr>
        <p:blipFill>
          <a:blip r:embed="rId2"/>
          <a:stretch>
            <a:fillRect/>
          </a:stretch>
        </p:blipFill>
        <p:spPr>
          <a:xfrm>
            <a:off x="4114628" y="2032895"/>
            <a:ext cx="3962743" cy="2792210"/>
          </a:xfrm>
          <a:prstGeom prst="rect">
            <a:avLst/>
          </a:prstGeom>
        </p:spPr>
      </p:pic>
    </p:spTree>
    <p:extLst>
      <p:ext uri="{BB962C8B-B14F-4D97-AF65-F5344CB8AC3E}">
        <p14:creationId xmlns:p14="http://schemas.microsoft.com/office/powerpoint/2010/main" val="34241518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97722" y="86059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774882" y="1911179"/>
            <a:ext cx="9045146" cy="280698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Sequence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A sequence diagram in Unified Modelling Language (UML) is a kind of interaction diagram that shows how processes operate with one another and in what order. It is a construct of a Message Sequence Chart. Sequence diagrams are sometimes called event diagrams, event scenarios, and timing diagrams.</a:t>
            </a:r>
          </a:p>
          <a:p>
            <a:pPr marL="342900" lvl="0" indent="-342900" algn="just">
              <a:lnSpc>
                <a:spcPct val="150000"/>
              </a:lnSpc>
              <a:buFont typeface="Wingdings" panose="05000000000000000000" pitchFamily="2" charset="2"/>
              <a:buChar char="§"/>
            </a:pP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0366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399006" y="5664909"/>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Sequence diagram</a:t>
            </a:r>
          </a:p>
        </p:txBody>
      </p:sp>
      <p:pic>
        <p:nvPicPr>
          <p:cNvPr id="5" name="Picture 4">
            <a:extLst>
              <a:ext uri="{FF2B5EF4-FFF2-40B4-BE49-F238E27FC236}">
                <a16:creationId xmlns:a16="http://schemas.microsoft.com/office/drawing/2014/main" id="{BC4A72EF-10FF-44C8-8A7C-EFA267EAA500}"/>
              </a:ext>
            </a:extLst>
          </p:cNvPr>
          <p:cNvPicPr>
            <a:picLocks noChangeAspect="1"/>
          </p:cNvPicPr>
          <p:nvPr/>
        </p:nvPicPr>
        <p:blipFill>
          <a:blip r:embed="rId2"/>
          <a:stretch>
            <a:fillRect/>
          </a:stretch>
        </p:blipFill>
        <p:spPr>
          <a:xfrm>
            <a:off x="4284471" y="1572694"/>
            <a:ext cx="3784548" cy="3940291"/>
          </a:xfrm>
          <a:prstGeom prst="rect">
            <a:avLst/>
          </a:prstGeom>
        </p:spPr>
      </p:pic>
    </p:spTree>
    <p:extLst>
      <p:ext uri="{BB962C8B-B14F-4D97-AF65-F5344CB8AC3E}">
        <p14:creationId xmlns:p14="http://schemas.microsoft.com/office/powerpoint/2010/main" val="22602381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73483" y="8029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573483" y="2084174"/>
            <a:ext cx="9045146" cy="326865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Collaboration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In collaboration diagram the method call sequence is indicated by some numbering technique as shown below. The number indicates how the methods are called one after another. We have taken the same order management system to describe the collaboration diagram. The method calls are similar to that of a sequence diagram. But the difference is that the sequence diagram does not describe the object organization whereas the collaboration diagram shows the object organization.</a:t>
            </a:r>
          </a:p>
        </p:txBody>
      </p:sp>
    </p:spTree>
    <p:extLst>
      <p:ext uri="{BB962C8B-B14F-4D97-AF65-F5344CB8AC3E}">
        <p14:creationId xmlns:p14="http://schemas.microsoft.com/office/powerpoint/2010/main" val="30963352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525257" y="5354673"/>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Collaboration diagram</a:t>
            </a:r>
          </a:p>
        </p:txBody>
      </p:sp>
      <p:pic>
        <p:nvPicPr>
          <p:cNvPr id="5" name="Picture 4">
            <a:extLst>
              <a:ext uri="{FF2B5EF4-FFF2-40B4-BE49-F238E27FC236}">
                <a16:creationId xmlns:a16="http://schemas.microsoft.com/office/drawing/2014/main" id="{66A466E3-9C4C-4C4B-98DB-93DA24AF7B58}"/>
              </a:ext>
            </a:extLst>
          </p:cNvPr>
          <p:cNvPicPr>
            <a:picLocks noChangeAspect="1"/>
          </p:cNvPicPr>
          <p:nvPr/>
        </p:nvPicPr>
        <p:blipFill>
          <a:blip r:embed="rId2"/>
          <a:stretch>
            <a:fillRect/>
          </a:stretch>
        </p:blipFill>
        <p:spPr>
          <a:xfrm>
            <a:off x="4294476" y="2395638"/>
            <a:ext cx="3603048" cy="2066723"/>
          </a:xfrm>
          <a:prstGeom prst="rect">
            <a:avLst/>
          </a:prstGeom>
        </p:spPr>
      </p:pic>
    </p:spTree>
    <p:extLst>
      <p:ext uri="{BB962C8B-B14F-4D97-AF65-F5344CB8AC3E}">
        <p14:creationId xmlns:p14="http://schemas.microsoft.com/office/powerpoint/2010/main" val="9869847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73483" y="8029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573483" y="2084174"/>
            <a:ext cx="9045146" cy="280698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Activity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Activity diagrams are graphical representations of workflows of stepwise activities and actions with support for choice, iteration and concurrency. In the Unified Modelling Language, activity diagrams can be used to describe the business and operational step-by-step workflows of components in a system. An activity diagram shows the overall flow of control.</a:t>
            </a:r>
          </a:p>
        </p:txBody>
      </p:sp>
    </p:spTree>
    <p:extLst>
      <p:ext uri="{BB962C8B-B14F-4D97-AF65-F5344CB8AC3E}">
        <p14:creationId xmlns:p14="http://schemas.microsoft.com/office/powerpoint/2010/main" val="1720225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267201" y="5516978"/>
            <a:ext cx="3670013"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Figure: Activity diagram</a:t>
            </a:r>
            <a:endParaRPr lang="en-IN" sz="2000" dirty="0">
              <a:effectLst/>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CD9632D-C771-4FC6-B40A-81DEFEEBCEDC}"/>
              </a:ext>
            </a:extLst>
          </p:cNvPr>
          <p:cNvPicPr>
            <a:picLocks noChangeAspect="1"/>
          </p:cNvPicPr>
          <p:nvPr/>
        </p:nvPicPr>
        <p:blipFill>
          <a:blip r:embed="rId2"/>
          <a:stretch>
            <a:fillRect/>
          </a:stretch>
        </p:blipFill>
        <p:spPr>
          <a:xfrm>
            <a:off x="3230631" y="2794961"/>
            <a:ext cx="5730737" cy="1268078"/>
          </a:xfrm>
          <a:prstGeom prst="rect">
            <a:avLst/>
          </a:prstGeom>
        </p:spPr>
      </p:pic>
    </p:spTree>
    <p:extLst>
      <p:ext uri="{BB962C8B-B14F-4D97-AF65-F5344CB8AC3E}">
        <p14:creationId xmlns:p14="http://schemas.microsoft.com/office/powerpoint/2010/main" val="15998397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73483" y="8029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573483" y="2084174"/>
            <a:ext cx="9045146" cy="240065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Component Diagram</a:t>
            </a:r>
            <a:r>
              <a:rPr lang="en-US" sz="2000" dirty="0">
                <a:latin typeface="Times New Roman" panose="02020603050405020304" pitchFamily="18" charset="0"/>
                <a:cs typeface="Times New Roman" panose="02020603050405020304" pitchFamily="18" charset="0"/>
              </a:rPr>
              <a:t>:</a:t>
            </a:r>
          </a:p>
          <a:p>
            <a:pPr algn="just">
              <a:lnSpc>
                <a:spcPct val="150000"/>
              </a:lnSpc>
            </a:pPr>
            <a:r>
              <a:rPr lang="en-US" sz="2000" dirty="0">
                <a:latin typeface="Times New Roman" panose="02020603050405020304" pitchFamily="18" charset="0"/>
                <a:cs typeface="Times New Roman" panose="02020603050405020304" pitchFamily="18" charset="0"/>
              </a:rPr>
              <a:t>A component diagram, also known as a UML component diagram, describes the organization and wiring of the physical </a:t>
            </a:r>
            <a:r>
              <a:rPr lang="en-US" sz="2000" b="1" dirty="0">
                <a:latin typeface="Times New Roman" panose="02020603050405020304" pitchFamily="18" charset="0"/>
                <a:cs typeface="Times New Roman" panose="02020603050405020304" pitchFamily="18" charset="0"/>
              </a:rPr>
              <a:t>c</a:t>
            </a:r>
            <a:r>
              <a:rPr lang="en-US" sz="2000" dirty="0">
                <a:latin typeface="Times New Roman" panose="02020603050405020304" pitchFamily="18" charset="0"/>
                <a:cs typeface="Times New Roman" panose="02020603050405020304" pitchFamily="18" charset="0"/>
              </a:rPr>
              <a:t>omponents in a system. Component diagrams are often drawn to help model implementation details and double-check that every aspect of the system's required functions is covered by planned development.</a:t>
            </a:r>
          </a:p>
        </p:txBody>
      </p:sp>
    </p:spTree>
    <p:extLst>
      <p:ext uri="{BB962C8B-B14F-4D97-AF65-F5344CB8AC3E}">
        <p14:creationId xmlns:p14="http://schemas.microsoft.com/office/powerpoint/2010/main" val="1427746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341341" y="5288468"/>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Component diagram</a:t>
            </a:r>
          </a:p>
        </p:txBody>
      </p:sp>
      <p:pic>
        <p:nvPicPr>
          <p:cNvPr id="4" name="Picture 3">
            <a:extLst>
              <a:ext uri="{FF2B5EF4-FFF2-40B4-BE49-F238E27FC236}">
                <a16:creationId xmlns:a16="http://schemas.microsoft.com/office/drawing/2014/main" id="{495D220D-2419-4B13-BBA2-75791E1C26A1}"/>
              </a:ext>
            </a:extLst>
          </p:cNvPr>
          <p:cNvPicPr>
            <a:picLocks noChangeAspect="1"/>
          </p:cNvPicPr>
          <p:nvPr/>
        </p:nvPicPr>
        <p:blipFill>
          <a:blip r:embed="rId2"/>
          <a:stretch>
            <a:fillRect/>
          </a:stretch>
        </p:blipFill>
        <p:spPr>
          <a:xfrm>
            <a:off x="3404915" y="1571359"/>
            <a:ext cx="5382170" cy="3715281"/>
          </a:xfrm>
          <a:prstGeom prst="rect">
            <a:avLst/>
          </a:prstGeom>
        </p:spPr>
      </p:pic>
    </p:spTree>
    <p:extLst>
      <p:ext uri="{BB962C8B-B14F-4D97-AF65-F5344CB8AC3E}">
        <p14:creationId xmlns:p14="http://schemas.microsoft.com/office/powerpoint/2010/main" val="20991593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40531" y="539319"/>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963827" y="1470197"/>
            <a:ext cx="10536194" cy="4708981"/>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ER Diagram:</a:t>
            </a:r>
            <a:endParaRPr lang="en-US" sz="20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An Entity–relationship model (ER model) describes the structure of a database with the help of a diagram, which is known as Entity Relationship Diagram (ER Diagram). An ER model is a design or blueprint of a database that can later be implemented as a database. The main components of E-R model are: entity set and relationship set.</a:t>
            </a:r>
          </a:p>
          <a:p>
            <a:pPr marL="342900" indent="-34290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An ER diagram shows the relationship among entity sets. An entity set is a group of similar entities and these entities can have attributes. In terms of DBMS, an entity is a table or attribute of a table in database, so by showing relationship among tables and their attributes, ER diagram shows the complete logical structure of a database. Let’s have a look at a simple ER diagram to understand this concept.</a:t>
            </a:r>
          </a:p>
        </p:txBody>
      </p:sp>
    </p:spTree>
    <p:extLst>
      <p:ext uri="{BB962C8B-B14F-4D97-AF65-F5344CB8AC3E}">
        <p14:creationId xmlns:p14="http://schemas.microsoft.com/office/powerpoint/2010/main" val="12731684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384883" y="5414962"/>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ER diagram</a:t>
            </a:r>
          </a:p>
        </p:txBody>
      </p:sp>
      <p:pic>
        <p:nvPicPr>
          <p:cNvPr id="5" name="Picture 4">
            <a:extLst>
              <a:ext uri="{FF2B5EF4-FFF2-40B4-BE49-F238E27FC236}">
                <a16:creationId xmlns:a16="http://schemas.microsoft.com/office/drawing/2014/main" id="{72BDFDB4-CA5C-4C9E-A6B2-D7DDC6727EB8}"/>
              </a:ext>
            </a:extLst>
          </p:cNvPr>
          <p:cNvPicPr>
            <a:picLocks noChangeAspect="1"/>
          </p:cNvPicPr>
          <p:nvPr/>
        </p:nvPicPr>
        <p:blipFill>
          <a:blip r:embed="rId2"/>
          <a:stretch>
            <a:fillRect/>
          </a:stretch>
        </p:blipFill>
        <p:spPr>
          <a:xfrm>
            <a:off x="4614543" y="2017653"/>
            <a:ext cx="2962913" cy="2822693"/>
          </a:xfrm>
          <a:prstGeom prst="rect">
            <a:avLst/>
          </a:prstGeom>
        </p:spPr>
      </p:pic>
    </p:spTree>
    <p:extLst>
      <p:ext uri="{BB962C8B-B14F-4D97-AF65-F5344CB8AC3E}">
        <p14:creationId xmlns:p14="http://schemas.microsoft.com/office/powerpoint/2010/main" val="17120039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40531" y="539319"/>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276865" y="1692618"/>
            <a:ext cx="9737124" cy="378565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DFD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A Data Flow Diagram (DFD) is a traditional way to visualize the information flows within a system. A neat and clear DFD can depict a good amount of the system requirements graphically. It can be manual, automated, or a combination of both. It shows how information enters and leaves the system, what changes the information and where information is stored. The purpose of a DFD is to show the scope and boundaries of a system as a whole. It may be used as a communications tool between a systems analyst and any person who plays a part in the system that acts as the starting point for redesigning a system.</a:t>
            </a:r>
          </a:p>
        </p:txBody>
      </p:sp>
    </p:spTree>
    <p:extLst>
      <p:ext uri="{BB962C8B-B14F-4D97-AF65-F5344CB8AC3E}">
        <p14:creationId xmlns:p14="http://schemas.microsoft.com/office/powerpoint/2010/main" val="19636286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260993" y="5488523"/>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Context Level diagram</a:t>
            </a:r>
          </a:p>
        </p:txBody>
      </p:sp>
      <p:pic>
        <p:nvPicPr>
          <p:cNvPr id="4" name="Picture 3">
            <a:extLst>
              <a:ext uri="{FF2B5EF4-FFF2-40B4-BE49-F238E27FC236}">
                <a16:creationId xmlns:a16="http://schemas.microsoft.com/office/drawing/2014/main" id="{AC0CF0B6-0AC2-4CEC-AD10-DA4231D33378}"/>
              </a:ext>
            </a:extLst>
          </p:cNvPr>
          <p:cNvPicPr>
            <a:picLocks noChangeAspect="1"/>
          </p:cNvPicPr>
          <p:nvPr/>
        </p:nvPicPr>
        <p:blipFill>
          <a:blip r:embed="rId2"/>
          <a:stretch>
            <a:fillRect/>
          </a:stretch>
        </p:blipFill>
        <p:spPr>
          <a:xfrm>
            <a:off x="4294476" y="2035943"/>
            <a:ext cx="3603048" cy="2786113"/>
          </a:xfrm>
          <a:prstGeom prst="rect">
            <a:avLst/>
          </a:prstGeom>
        </p:spPr>
      </p:pic>
    </p:spTree>
    <p:extLst>
      <p:ext uri="{BB962C8B-B14F-4D97-AF65-F5344CB8AC3E}">
        <p14:creationId xmlns:p14="http://schemas.microsoft.com/office/powerpoint/2010/main" val="39811715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980358" y="778216"/>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CONCLUSION</a:t>
            </a:r>
          </a:p>
        </p:txBody>
      </p:sp>
      <p:sp>
        <p:nvSpPr>
          <p:cNvPr id="4" name="TextBox 3"/>
          <p:cNvSpPr txBox="1"/>
          <p:nvPr/>
        </p:nvSpPr>
        <p:spPr>
          <a:xfrm>
            <a:off x="1278835" y="2703007"/>
            <a:ext cx="9634330" cy="2540888"/>
          </a:xfrm>
          <a:prstGeom prst="rect">
            <a:avLst/>
          </a:prstGeom>
          <a:noFill/>
        </p:spPr>
        <p:txBody>
          <a:bodyPr wrap="square" rtlCol="0">
            <a:spAutoFit/>
          </a:bodyPr>
          <a:lstStyle/>
          <a:p>
            <a:pPr algn="just">
              <a:lnSpc>
                <a:spcPct val="150000"/>
              </a:lnSpc>
              <a:spcAft>
                <a:spcPts val="800"/>
              </a:spcAft>
            </a:pPr>
            <a:r>
              <a:rPr lang="en-US" dirty="0">
                <a:latin typeface="Times New Roman" panose="02020603050405020304" pitchFamily="18" charset="0"/>
                <a:ea typeface="Times New Roman" panose="02020603050405020304" pitchFamily="18" charset="0"/>
                <a:cs typeface="Times New Roman" panose="02020603050405020304" pitchFamily="18" charset="0"/>
              </a:rPr>
              <a:t>In conclusion, this mobile application provides a vital platform for managing disaster relief efforts during flood emergencies. Through its user-friendly interface, donors, supporters, and users can engage in a streamlined process to request and provide aid. The inclusion of an administrator role ensures the legitimacy of interactions, fostering a secure environment for all participants. This comprehensive approach enhances the effectiveness of disaster response and ensures that critical aid is delivered promptly to those in need</a:t>
            </a:r>
            <a:r>
              <a:rPr lang="en-IN" dirty="0">
                <a:latin typeface="Times New Roman" panose="02020603050405020304" pitchFamily="18" charset="0"/>
                <a:ea typeface="Times New Roman" panose="02020603050405020304" pitchFamily="18" charset="0"/>
                <a:cs typeface="Times New Roman" panose="02020603050405020304" pitchFamily="18" charset="0"/>
              </a:rPr>
              <a:t>.</a:t>
            </a:r>
            <a:endParaRPr lang="en-IN"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482073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980358" y="778216"/>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effectLst/>
                <a:latin typeface="Times New Roman" panose="02020603050405020304" pitchFamily="18" charset="0"/>
                <a:ea typeface="Calibri" panose="020F0502020204030204" pitchFamily="34" charset="0"/>
              </a:rPr>
              <a:t>FUTURE ENHANCEMENT</a:t>
            </a:r>
            <a:br>
              <a:rPr lang="en-US" altLang="en-US" sz="44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317274" y="2716260"/>
            <a:ext cx="9557451" cy="2535566"/>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ea typeface="Times New Roman" panose="02020603050405020304" pitchFamily="18" charset="0"/>
              </a:rPr>
              <a:t>Future enhancements to the application could focus on incorporating more advanced features to further improve the disaster relief process. For example, integrating real-time tracking systems could allow users to monitor aid distribution more efficiently. Additionally, expanding the app’s functionality to include multilingual support would ensure wider accessibility. Another potential improvement could be adding predictive analytics to optimize resource allocation based on historical data, enhancing the overall effectiveness of relief operations during floods.</a:t>
            </a:r>
            <a:endParaRPr lang="en-IN"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2598997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97666" y="773719"/>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REFERENCES</a:t>
            </a:r>
            <a:endParaRPr lang="en-US" sz="3600" b="1" dirty="0"/>
          </a:p>
        </p:txBody>
      </p:sp>
      <p:sp>
        <p:nvSpPr>
          <p:cNvPr id="5" name="Rectangle 4">
            <a:extLst>
              <a:ext uri="{FF2B5EF4-FFF2-40B4-BE49-F238E27FC236}">
                <a16:creationId xmlns:a16="http://schemas.microsoft.com/office/drawing/2014/main" id="{0678BB7E-D133-4CD0-BBDB-D9C9649E93CD}"/>
              </a:ext>
            </a:extLst>
          </p:cNvPr>
          <p:cNvSpPr/>
          <p:nvPr/>
        </p:nvSpPr>
        <p:spPr>
          <a:xfrm>
            <a:off x="1060174" y="1668935"/>
            <a:ext cx="10230678" cy="4156522"/>
          </a:xfrm>
          <a:prstGeom prst="rect">
            <a:avLst/>
          </a:prstGeom>
        </p:spPr>
        <p:txBody>
          <a:bodyPr wrap="square">
            <a:spAutoFit/>
          </a:bodyPr>
          <a:lstStyle/>
          <a:p>
            <a:pPr algn="just">
              <a:lnSpc>
                <a:spcPct val="150000"/>
              </a:lnSpc>
              <a:spcAft>
                <a:spcPts val="800"/>
              </a:spcAft>
            </a:pPr>
            <a:r>
              <a:rPr lang="en-US" sz="1600" dirty="0">
                <a:latin typeface="Times New Roman" panose="02020603050405020304" pitchFamily="18" charset="0"/>
                <a:ea typeface="Calibri" panose="020F0502020204030204" pitchFamily="34" charset="0"/>
                <a:cs typeface="Times New Roman" panose="02020603050405020304" pitchFamily="18" charset="0"/>
              </a:rPr>
              <a:t>[1] Flood Management System Using Cloud Computing and Internet-of-Things || Himanshu Rai Goyal, </a:t>
            </a:r>
            <a:r>
              <a:rPr lang="en-US" sz="1600" dirty="0" err="1">
                <a:latin typeface="Times New Roman" panose="02020603050405020304" pitchFamily="18" charset="0"/>
                <a:ea typeface="Calibri" panose="020F0502020204030204" pitchFamily="34" charset="0"/>
                <a:cs typeface="Times New Roman" panose="02020603050405020304" pitchFamily="18" charset="0"/>
              </a:rPr>
              <a:t>Sachin</a:t>
            </a:r>
            <a:r>
              <a:rPr lang="en-US" sz="1600" dirty="0">
                <a:latin typeface="Times New Roman" panose="02020603050405020304" pitchFamily="18" charset="0"/>
                <a:ea typeface="Calibri" panose="020F0502020204030204" pitchFamily="34" charset="0"/>
                <a:cs typeface="Times New Roman" panose="02020603050405020304" pitchFamily="18" charset="0"/>
              </a:rPr>
              <a:t> Sharma || 20-21 January 2023</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1600" dirty="0">
                <a:latin typeface="Times New Roman" panose="02020603050405020304" pitchFamily="18" charset="0"/>
                <a:ea typeface="Calibri" panose="020F0502020204030204" pitchFamily="34" charset="0"/>
                <a:cs typeface="Times New Roman" panose="02020603050405020304" pitchFamily="18" charset="0"/>
              </a:rPr>
              <a:t>[2] Video surveillance system for </a:t>
            </a:r>
            <a:r>
              <a:rPr lang="en-US" sz="1600" dirty="0" err="1">
                <a:latin typeface="Times New Roman" panose="02020603050405020304" pitchFamily="18" charset="0"/>
                <a:ea typeface="Calibri" panose="020F0502020204030204" pitchFamily="34" charset="0"/>
                <a:cs typeface="Times New Roman" panose="02020603050405020304" pitchFamily="18" charset="0"/>
              </a:rPr>
              <a:t>realtime</a:t>
            </a:r>
            <a:r>
              <a:rPr lang="en-US" sz="1600" dirty="0">
                <a:latin typeface="Times New Roman" panose="02020603050405020304" pitchFamily="18" charset="0"/>
                <a:ea typeface="Calibri" panose="020F0502020204030204" pitchFamily="34" charset="0"/>
                <a:cs typeface="Times New Roman" panose="02020603050405020304" pitchFamily="18" charset="0"/>
              </a:rPr>
              <a:t> flood detection and mobile app for flood alert || K. Priya Menon; L. Kala || 18-19 July 2017.</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1600" dirty="0">
                <a:latin typeface="Times New Roman" panose="02020603050405020304" pitchFamily="18" charset="0"/>
                <a:ea typeface="Calibri" panose="020F0502020204030204" pitchFamily="34" charset="0"/>
                <a:cs typeface="Times New Roman" panose="02020603050405020304" pitchFamily="18" charset="0"/>
              </a:rPr>
              <a:t>[3] Flooding through the lens of mobile phone activity || David Pastor-</a:t>
            </a:r>
            <a:r>
              <a:rPr lang="en-US" sz="1600" dirty="0" err="1">
                <a:latin typeface="Times New Roman" panose="02020603050405020304" pitchFamily="18" charset="0"/>
                <a:ea typeface="Calibri" panose="020F0502020204030204" pitchFamily="34" charset="0"/>
                <a:cs typeface="Times New Roman" panose="02020603050405020304" pitchFamily="18" charset="0"/>
              </a:rPr>
              <a:t>Escuredo</a:t>
            </a:r>
            <a:r>
              <a:rPr lang="en-US" sz="1600" dirty="0">
                <a:latin typeface="Times New Roman" panose="02020603050405020304" pitchFamily="18" charset="0"/>
                <a:ea typeface="Calibri" panose="020F0502020204030204" pitchFamily="34" charset="0"/>
                <a:cs typeface="Times New Roman" panose="02020603050405020304" pitchFamily="18" charset="0"/>
              </a:rPr>
              <a:t>; Alfredo Morales-Guzmán; Yolanda Torres-Fernández; Jean-Martin Bauer; Amit Wadhwa; Carlos Castro-Correa || 10-13 October 2014.</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1600" dirty="0">
                <a:latin typeface="Times New Roman" panose="02020603050405020304" pitchFamily="18" charset="0"/>
                <a:ea typeface="Calibri" panose="020F0502020204030204" pitchFamily="34" charset="0"/>
                <a:cs typeface="Times New Roman" panose="02020603050405020304" pitchFamily="18" charset="0"/>
              </a:rPr>
              <a:t>[4] Smart flood disaster prediction system using IoT &amp; neural networks || Swapnil </a:t>
            </a:r>
            <a:r>
              <a:rPr lang="en-US" sz="1600" dirty="0" err="1">
                <a:latin typeface="Times New Roman" panose="02020603050405020304" pitchFamily="18" charset="0"/>
                <a:ea typeface="Calibri" panose="020F0502020204030204" pitchFamily="34" charset="0"/>
                <a:cs typeface="Times New Roman" panose="02020603050405020304" pitchFamily="18" charset="0"/>
              </a:rPr>
              <a:t>Bande</a:t>
            </a:r>
            <a:r>
              <a:rPr lang="en-US" sz="1600" dirty="0">
                <a:latin typeface="Times New Roman" panose="02020603050405020304" pitchFamily="18" charset="0"/>
                <a:ea typeface="Calibri" panose="020F0502020204030204" pitchFamily="34" charset="0"/>
                <a:cs typeface="Times New Roman" panose="02020603050405020304" pitchFamily="18" charset="0"/>
              </a:rPr>
              <a:t>; Virendra V. </a:t>
            </a:r>
            <a:r>
              <a:rPr lang="en-US" sz="1600" dirty="0" err="1">
                <a:latin typeface="Times New Roman" panose="02020603050405020304" pitchFamily="18" charset="0"/>
                <a:ea typeface="Calibri" panose="020F0502020204030204" pitchFamily="34" charset="0"/>
                <a:cs typeface="Times New Roman" panose="02020603050405020304" pitchFamily="18" charset="0"/>
              </a:rPr>
              <a:t>Shete</a:t>
            </a:r>
            <a:r>
              <a:rPr lang="en-US" sz="1600" dirty="0">
                <a:latin typeface="Times New Roman" panose="02020603050405020304" pitchFamily="18" charset="0"/>
                <a:ea typeface="Calibri" panose="020F0502020204030204" pitchFamily="34" charset="0"/>
                <a:cs typeface="Times New Roman" panose="02020603050405020304" pitchFamily="18" charset="0"/>
              </a:rPr>
              <a:t> || 17-19 August 2017</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1600" dirty="0">
                <a:latin typeface="Times New Roman" panose="02020603050405020304" pitchFamily="18" charset="0"/>
                <a:ea typeface="Calibri" panose="020F0502020204030204" pitchFamily="34" charset="0"/>
                <a:cs typeface="Times New Roman" panose="02020603050405020304" pitchFamily="18" charset="0"/>
              </a:rPr>
              <a:t>[5] Study on Decision Support System of Flood Disaster Based on the Overall Process Emergency Management || Qing Yang; </a:t>
            </a:r>
            <a:r>
              <a:rPr lang="en-US" sz="1600" dirty="0" err="1">
                <a:latin typeface="Times New Roman" panose="02020603050405020304" pitchFamily="18" charset="0"/>
                <a:ea typeface="Calibri" panose="020F0502020204030204" pitchFamily="34" charset="0"/>
                <a:cs typeface="Times New Roman" panose="02020603050405020304" pitchFamily="18" charset="0"/>
              </a:rPr>
              <a:t>Qiang</a:t>
            </a:r>
            <a:r>
              <a:rPr lang="en-US" sz="1600" dirty="0">
                <a:latin typeface="Times New Roman" panose="02020603050405020304" pitchFamily="18" charset="0"/>
                <a:ea typeface="Calibri" panose="020F0502020204030204" pitchFamily="34" charset="0"/>
                <a:cs typeface="Times New Roman" panose="02020603050405020304" pitchFamily="18" charset="0"/>
              </a:rPr>
              <a:t> Zhang || 21-25 September 2007</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6675277"/>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734</TotalTime>
  <Words>2505</Words>
  <Application>Microsoft Office PowerPoint</Application>
  <PresentationFormat>Widescreen</PresentationFormat>
  <Paragraphs>145</Paragraphs>
  <Slides>36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36</vt:i4>
      </vt:variant>
    </vt:vector>
  </HeadingPairs>
  <TitlesOfParts>
    <vt:vector size="44" baseType="lpstr">
      <vt:lpstr>Arial</vt:lpstr>
      <vt:lpstr>Calibri</vt:lpstr>
      <vt:lpstr>Garamond</vt:lpstr>
      <vt:lpstr>Symbol</vt:lpstr>
      <vt:lpstr>Times New Roman</vt:lpstr>
      <vt:lpstr>Wingdings</vt:lpstr>
      <vt:lpstr>Wingdings 3</vt:lpstr>
      <vt:lpstr>Organic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Existing method:</vt:lpstr>
      <vt:lpstr>PowerPoint Presentation</vt:lpstr>
      <vt:lpstr>Proposed method: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Vinay Vallabhaneni</dc:creator>
  <cp:lastModifiedBy>Thakur Roshan Singh</cp:lastModifiedBy>
  <cp:revision>78</cp:revision>
  <dcterms:created xsi:type="dcterms:W3CDTF">2023-11-30T10:58:10Z</dcterms:created>
  <dcterms:modified xsi:type="dcterms:W3CDTF">2025-03-06T09:50:40Z</dcterms:modified>
</cp:coreProperties>
</file>